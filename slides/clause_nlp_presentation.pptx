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DM Sans" pitchFamily="34" charset="0"/>
      <p:regular r:id="rId19"/>
      <p:bold r:id="rId20"/>
    </p:embeddedFont>
    <p:embeddedFont>
      <p:font typeface="Syne" pitchFamily="18" charset="0"/>
      <p:regular r:id="rId21"/>
      <p:bold r:id="rId22"/>
    </p:embeddedFon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Leopold. Introduce the team and the one-line promise: we built the NLP core of a contract-review assistant that classifies clauses, retrieves precedents, and documents where it can and cannot be trusted. The § sign is the section symbol lawyers use for clauses.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Leopold. A lawyer reviewing a target company's contracts tags each clause, looks for precedents in the firm's clause bank and flags unusual wording. Our NLP core automates the first two steps and, crucially, knows when to hand a clause back to a human. The third card is the one we will come back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Leopold. LEDGAR is public: clauses from contracts filed with the US SEC, 100 clause types, official split 60k / 10k / 10k. Three things shaped every later decision. One: a 138-fold imbalance, so accuracy would hide the rare types; macro-F1 counts every type equally. Two: 2.8% of test clauses are duplicates of training clauses; every score is also reported without them. Three: what is missing. No EU contracts, no French, no metadata on parties, so the audit had to create its own slices. We also found identical texts with different labels, which comes back on the limits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Gaby. Classification: we fine-tuned Legal-BERT, a BERT pretrained on legal text, with our own PyTorch loop: dynamic padding, AdamW with warmup, mixed precision, gradient clipping, early stopping on validation macro-F1. CamemBERT was not used for training because LEDGAR is English; it is a French model. The final system averages calibrated Legal-BERT probabilities with a TF-IDF logistic regression, and only tags a clause automatically above a confidence threshold chosen on validation. Retrieval: BM25 over the 60,000 training clauses; we tested embeddings and hybrid search too, as the retrieval slide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Gaby. Hyperparameters were chosen on validation; the test set was used once per run. We trained Legal-BERT six times: three seeds on Colab and Kaggle, the same three seeds on a local GPU. Same seed on two GPUs differs by up to 0.6 pt, which is as large as the model differences, so we only quote means. Legal-BERT is more accurate in every run, significant by McNemar's test, but its macro-F1 equals the keyword baseline: it does not help the average clause type. The orange row is the ensemble: averaging calibrated Legal-BERT with TF-IDF, equal weights, nothing fitted. It is the first gain that is significant on macro-F1 (95% CI +0.6 to +2.0 pt). Honest note: we had the idea after seeing single-model test results, so we checked it on validation, where it also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Gaby. Fine-tuning helps where data is plentiful: +1.3 macro-F1 points on the 20 most frequent types, nothing on the 40 rarest, where a keyword model is as good. That is exactly why averaging the two models works. The confusion table: almost all top errors are between labels that mean nearly the same thing, often in both directions. We predicted some of these from the label names during the EDA, before training. Per-class scores for types with fewer than 10 test examples, like Books with 2, are not interpretable and we do not quote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Gaby. This is the product decision. Raw Legal-BERT was overconfident: its confidence was about 8 points above its real accuracy. Temperature scaling, one number fitted on validation, fixes that, so a displayed 0.90 now means about 90% correct. Then the threshold: we pick, on validation, the lowest confidence at which accuracy reaches 97%, and apply it to test. Calibrated Legal-BERT alone auto-tags 58 to 65% of clauses at that level; TF-IDF 73%, at 96.5%; the ensemble 77%, at 96.7%. Bars are drawn to scale of coverage. Say "about 97%": test accuracy is just under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Theodore. Leopold wrote 30 realistic lawyer questions: 10 frequent, 10 mid-frequency and 10 rare clause types, most with a word or number the right clause must contain. The bank is the 60,000 training clauses; test clauses are never indexed. We expected embeddings or hybrid search to win; they did not. BM25 puts the right clause type in the top 5 for 29 of 30 questions. Score fusion was tested at several weights and never beat BM25 alone. Every miss is on a rare type. With 30 questions, treat the ranking as directional.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Theodore. The data has no party or country metadata, so we built our own slices. Two risks. Rare clause types are both the least accurate and still very confident; these must go to a lawyer, and the calibrated threshold does that. Out-of-scope text: Leopold wrote 50 sentences that are not clauses, including French. Most get low confidence, but about 11% still score above 0.9, so the product needs a language and document-type check in front of the model. Two concerns we could rule out: truncation at 256 tokens, and memorisation of duplicated clauses. The audit was run on Legal-BERT alone, not on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Theodore. The brief asks about the kinds of contracts and parties the tool will meet. LEDGAR has no metadata, so we tested it two ways. Left, counterfactual swaps: we change one detail and check whether the predicted clause type changes. Gender and currency change almost nothing. Replacing “the Executive” with a person’s name changes 3 to 4 percent of predictions, but the five names, from different origins, give the same rate on the same 400 clauses: chi-square p = 0.995, so no evidence of bias by name origin. Changing US governing law to German, French or English law barely moves Governing Laws clauses: 0 to 1.5 percent. Right, kinds of contract inferred from keywords: credit, M&amp;A and licences are around 90 percent, but lease and real-estate clauses drop to 74.6 percent while the model stays 86 percent confident. TF-IDF is just as weak there, so it is missing training data, not a model problem. That goes into the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Leopold. These five uses are excluded in the model card. On the right, I read the model's 50 most confident mistakes one by one and tagged each. Half are label noise: the official label is wrong and the model is right. Another 23 are overlapping labels or clauses that cover several topics. Only 2 are genuine model errors. Caveats: one annotator who is not a lawyer, and only the most confident errors, not a random sample. The GDPR point matters for a European start-up: contracts contain names and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Leopold. Four next steps, in order of value for a European client. First, data that looks like our clients: European and French contracts, with a multilingual model; this is where CamemBERT becomes the right choice. Second, lease and real-estate contracts, the weakest family in our audit: more training data there, then the same audit again. Third, fix the label set, since most remaining errors come from it. Fourth, close the loop: every clause a lawyer corrects becomes training data. Everything shown today is reproducible from the repository at tag v1.0.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6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0183"/>
            <a:ext cx="10160000" cy="1157684"/>
          </a:xfrm>
          <a:prstGeom prst="rect">
            <a:avLst/>
          </a:prstGeom>
          <a:noFill/>
          <a:ln/>
        </p:spPr>
        <p:txBody>
          <a:bodyPr wrap="square" lIns="0" tIns="0" rIns="0" bIns="0" rtlCol="0" anchor="t"/>
          <a:lstStyle>
            <a:lvl1pPr algn="l" indent="0" marL="0">
              <a:lnSpc>
                <a:spcPct val="115000"/>
              </a:lnSpc>
              <a:buNone/>
              <a:defRPr lang="en-US" sz="3125" dirty="0">
                <a:solidFill>
                  <a:srgbClr val="1F1611"/>
                </a:solidFill>
                <a:latin typeface="Syne" pitchFamily="34" charset="0"/>
                <a:ea typeface="Syne" pitchFamily="34" charset="-122"/>
                <a:cs typeface="Syne" pitchFamily="34" charset="-120"/>
              </a:defRPr>
            </a:lvl1pPr>
          </a:lstStyle>
          <a:p>
            <a:pPr algn="l" indent="0" marL="0">
              <a:lnSpc>
                <a:spcPct val="115000"/>
              </a:lnSpc>
              <a:buNone/>
            </a:pPr>
            <a:endParaRPr lang="en-US" sz="3125" dirty="0"/>
          </a:p>
        </p:txBody>
      </p:sp>
      <p:sp>
        <p:nvSpPr>
          <p:cNvPr id="3" name="Text Placeholder 2"/>
          <p:cNvSpPr/>
          <p:nvPr>
            <p:ph idx="101" type="body"/>
          </p:nvPr>
        </p:nvSpPr>
        <p:spPr>
          <a:xfrm>
            <a:off x="812800" y="2602668"/>
            <a:ext cx="10566400" cy="3442532"/>
          </a:xfrm>
          <a:prstGeom prst="rect">
            <a:avLst/>
          </a:prstGeom>
          <a:noFill/>
          <a:ln/>
        </p:spPr>
        <p:txBody>
          <a:bodyPr wrap="square" lIns="0" tIns="0" rIns="0" bIns="0" rtlCol="0" anchor="t"/>
          <a:lstStyle>
            <a:lvl1pPr algn="l" indent="0" marL="0">
              <a:lnSpc>
                <a:spcPct val="140000"/>
              </a:lnSpc>
              <a:buNone/>
              <a:defRPr lang="en-US" sz="1600" dirty="0">
                <a:solidFill>
                  <a:srgbClr val="1F1611"/>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6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0183"/>
            <a:ext cx="10160000" cy="1157684"/>
          </a:xfrm>
          <a:prstGeom prst="rect">
            <a:avLst/>
          </a:prstGeom>
          <a:noFill/>
          <a:ln/>
        </p:spPr>
        <p:txBody>
          <a:bodyPr wrap="square" lIns="0" tIns="0" rIns="0" bIns="0" rtlCol="0" anchor="t"/>
          <a:lstStyle>
            <a:lvl1pPr algn="l" indent="0" marL="0">
              <a:lnSpc>
                <a:spcPct val="115000"/>
              </a:lnSpc>
              <a:buNone/>
              <a:defRPr lang="en-US" sz="3125" dirty="0">
                <a:solidFill>
                  <a:srgbClr val="1F1611"/>
                </a:solidFill>
                <a:latin typeface="Syne" pitchFamily="34" charset="0"/>
                <a:ea typeface="Syne" pitchFamily="34" charset="-122"/>
                <a:cs typeface="Syne" pitchFamily="34" charset="-120"/>
              </a:defRPr>
            </a:lvl1pPr>
          </a:lstStyle>
          <a:p>
            <a:pPr algn="l" indent="0" marL="0">
              <a:lnSpc>
                <a:spcPct val="115000"/>
              </a:lnSpc>
              <a:buNone/>
            </a:pPr>
            <a:endParaRPr lang="en-US" sz="3125" dirty="0"/>
          </a:p>
        </p:txBody>
      </p:sp>
      <p:sp>
        <p:nvSpPr>
          <p:cNvPr id="3" name="Text Placeholder 2"/>
          <p:cNvSpPr/>
          <p:nvPr>
            <p:ph idx="101" type="body"/>
          </p:nvPr>
        </p:nvSpPr>
        <p:spPr>
          <a:xfrm>
            <a:off x="812800" y="2602668"/>
            <a:ext cx="10566400" cy="3442532"/>
          </a:xfrm>
          <a:prstGeom prst="rect">
            <a:avLst/>
          </a:prstGeom>
          <a:noFill/>
          <a:ln/>
        </p:spPr>
        <p:txBody>
          <a:bodyPr wrap="square" lIns="0" tIns="0" rIns="0" bIns="0" rtlCol="0" anchor="t"/>
          <a:lstStyle>
            <a:lvl1pPr algn="l" indent="0" marL="0">
              <a:lnSpc>
                <a:spcPct val="140000"/>
              </a:lnSpc>
              <a:buNone/>
              <a:defRPr lang="en-US" sz="1600" dirty="0">
                <a:solidFill>
                  <a:srgbClr val="1F1611"/>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611"/>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569200" y="1117600"/>
            <a:ext cx="3810000" cy="3810000"/>
          </a:xfrm>
          <a:prstGeom prst="rect">
            <a:avLst/>
          </a:prstGeom>
        </p:spPr>
      </p:pic>
      <p:pic>
        <p:nvPicPr>
          <p:cNvPr id="3" name="Image 1" descr="ellipse">    </p:cNvPr>
          <p:cNvPicPr>
            <a:picLocks noChangeAspect="1"/>
          </p:cNvPicPr>
          <p:nvPr/>
        </p:nvPicPr>
        <p:blipFill>
          <a:blip r:embed="rId2"/>
          <a:srcRect l="0" r="0" t="0" b="0"/>
          <a:stretch/>
        </p:blipFill>
        <p:spPr>
          <a:xfrm>
            <a:off x="7061200" y="609600"/>
            <a:ext cx="4826000" cy="4826000"/>
          </a:xfrm>
          <a:prstGeom prst="rect">
            <a:avLst/>
          </a:prstGeom>
        </p:spPr>
      </p:pic>
      <p:sp>
        <p:nvSpPr>
          <p:cNvPr id="4" name="Text 0"/>
          <p:cNvSpPr/>
          <p:nvPr/>
        </p:nvSpPr>
        <p:spPr>
          <a:xfrm>
            <a:off x="7512050" y="1498600"/>
            <a:ext cx="3924300" cy="2565400"/>
          </a:xfrm>
          <a:prstGeom prst="rect">
            <a:avLst/>
          </a:prstGeom>
          <a:noFill/>
          <a:ln/>
        </p:spPr>
        <p:txBody>
          <a:bodyPr wrap="square" lIns="0" tIns="0" rIns="0" bIns="0" rtlCol="0" anchor="t">
            <a:normAutofit/>
          </a:bodyPr>
          <a:lstStyle/>
          <a:p>
            <a:pPr algn="ctr" indent="0" marL="0">
              <a:lnSpc>
                <a:spcPts val="20000"/>
              </a:lnSpc>
              <a:buNone/>
            </a:pPr>
            <a:r>
              <a:rPr lang="en-US" sz="20000" b="1" dirty="0">
                <a:solidFill>
                  <a:srgbClr val="1F1611"/>
                </a:solidFill>
                <a:latin typeface="Syne" pitchFamily="18" charset="0"/>
                <a:ea typeface="Syne" pitchFamily="18" charset="-122"/>
                <a:cs typeface="Syne" pitchFamily="18" charset="-120"/>
              </a:rPr>
              <a:t>§</a:t>
            </a:r>
            <a:endParaRPr lang="en-US" sz="20000" dirty="0"/>
          </a:p>
        </p:txBody>
      </p:sp>
      <p:sp>
        <p:nvSpPr>
          <p:cNvPr id="5" name="Text 1"/>
          <p:cNvSpPr/>
          <p:nvPr/>
        </p:nvSpPr>
        <p:spPr>
          <a:xfrm>
            <a:off x="812800" y="812800"/>
            <a:ext cx="6540500" cy="4521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6A1B"/>
                </a:solidFill>
                <a:latin typeface="JetBrains Mono" pitchFamily="49" charset="0"/>
                <a:ea typeface="JetBrains Mono" pitchFamily="49" charset="-122"/>
                <a:cs typeface="JetBrains Mono" pitchFamily="49" charset="-120"/>
              </a:rPr>
              <a:t>FINAL PROJECT · NLP CORE OF A CONTRACT-REVIEW ASSISTANT</a:t>
            </a:r>
            <a:endParaRPr lang="en-US" sz="1200" dirty="0"/>
          </a:p>
        </p:txBody>
      </p:sp>
      <p:sp>
        <p:nvSpPr>
          <p:cNvPr id="6" name="Text 2"/>
          <p:cNvSpPr/>
          <p:nvPr>
            <p:ph type="title"/>
          </p:nvPr>
        </p:nvSpPr>
        <p:spPr>
          <a:xfrm>
            <a:off x="812800" y="1691481"/>
            <a:ext cx="6540500" cy="2489518"/>
          </a:xfrm>
          <a:prstGeom prst="rect">
            <a:avLst/>
          </a:prstGeom>
          <a:noFill/>
          <a:ln/>
        </p:spPr>
        <p:txBody>
          <a:bodyPr wrap="square" lIns="0" tIns="0" rIns="0" bIns="0" rtlCol="0" anchor="t">
            <a:normAutofit/>
          </a:bodyPr>
          <a:lstStyle/>
          <a:p>
            <a:pPr algn="l" indent="0" marL="0">
              <a:lnSpc>
                <a:spcPts val="6468"/>
              </a:lnSpc>
              <a:buNone/>
            </a:pPr>
            <a:r>
              <a:rPr lang="en-US" sz="6600" b="1" i="0" spc="-100" kern="0" dirty="0">
                <a:solidFill>
                  <a:srgbClr val="FBF6F0"/>
                </a:solidFill>
                <a:latin typeface="Syne" pitchFamily="18" charset="0"/>
                <a:ea typeface="Syne" pitchFamily="18" charset="-122"/>
                <a:cs typeface="Syne" pitchFamily="18" charset="-120"/>
              </a:rPr>
              <a:t>Contract</a:t>
            </a:r>
            <a:endParaRPr lang="en-US" sz="6600" dirty="0"/>
          </a:p>
          <a:p>
            <a:pPr algn="l" indent="0" marL="0">
              <a:lnSpc>
                <a:spcPts val="6468"/>
              </a:lnSpc>
              <a:buNone/>
            </a:pPr>
            <a:r>
              <a:rPr lang="en-US" sz="6600" b="1" i="0" spc="-100" kern="0" dirty="0">
                <a:solidFill>
                  <a:srgbClr val="FBF6F0"/>
                </a:solidFill>
                <a:latin typeface="Syne" pitchFamily="18" charset="0"/>
                <a:ea typeface="Syne" pitchFamily="18" charset="-122"/>
                <a:cs typeface="Syne" pitchFamily="18" charset="-120"/>
              </a:rPr>
              <a:t>Clause NLP</a:t>
            </a:r>
            <a:endParaRPr lang="en-US" sz="6600" dirty="0"/>
          </a:p>
        </p:txBody>
      </p:sp>
      <p:sp>
        <p:nvSpPr>
          <p:cNvPr id="7" name="Text 3"/>
          <p:cNvSpPr/>
          <p:nvPr/>
        </p:nvSpPr>
        <p:spPr>
          <a:xfrm>
            <a:off x="812800" y="4384199"/>
            <a:ext cx="58864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9DCCF"/>
                </a:solidFill>
                <a:latin typeface="DM Sans" pitchFamily="34" charset="0"/>
                <a:ea typeface="DM Sans" pitchFamily="34" charset="-122"/>
                <a:cs typeface="DM Sans" pitchFamily="34" charset="-120"/>
              </a:rPr>
              <a:t>Classify every clause. Find its precedents. Know when </a:t>
            </a:r>
            <a:r>
              <a:rPr lang="en-US" sz="2000" dirty="0">
                <a:solidFill>
                  <a:srgbClr val="F26A1B"/>
                </a:solidFill>
                <a:latin typeface="DM Sans" pitchFamily="34" charset="0"/>
                <a:ea typeface="DM Sans" pitchFamily="34" charset="-122"/>
                <a:cs typeface="DM Sans" pitchFamily="34" charset="-120"/>
              </a:rPr>
              <a:t>not</a:t>
            </a:r>
            <a:r>
              <a:rPr lang="en-US" sz="2000" dirty="0">
                <a:solidFill>
                  <a:srgbClr val="E9DCCF"/>
                </a:solidFill>
                <a:latin typeface="DM Sans" pitchFamily="34" charset="0"/>
                <a:ea typeface="DM Sans" pitchFamily="34" charset="-122"/>
                <a:cs typeface="DM Sans" pitchFamily="34" charset="-120"/>
              </a:rPr>
              <a:t> to trust it.</a:t>
            </a:r>
            <a:endParaRPr lang="en-US" sz="2000" dirty="0"/>
          </a:p>
        </p:txBody>
      </p:sp>
      <p:sp>
        <p:nvSpPr>
          <p:cNvPr id="8" name="Text 4"/>
          <p:cNvSpPr/>
          <p:nvPr/>
        </p:nvSpPr>
        <p:spPr>
          <a:xfrm>
            <a:off x="812800" y="5496560"/>
            <a:ext cx="65405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BF6F0"/>
                </a:solidFill>
                <a:latin typeface="DM Sans" pitchFamily="34" charset="0"/>
                <a:ea typeface="DM Sans" pitchFamily="34" charset="-122"/>
                <a:cs typeface="DM Sans" pitchFamily="34" charset="-120"/>
              </a:rPr>
              <a:t>Gaby · Theodore · Leopold</a:t>
            </a:r>
            <a:endParaRPr lang="en-US" sz="1600" dirty="0"/>
          </a:p>
        </p:txBody>
      </p:sp>
      <p:sp>
        <p:nvSpPr>
          <p:cNvPr id="9" name="Text 5"/>
          <p:cNvSpPr/>
          <p:nvPr/>
        </p:nvSpPr>
        <p:spPr>
          <a:xfrm>
            <a:off x="812800" y="5831840"/>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A996"/>
                </a:solidFill>
                <a:latin typeface="JetBrains Mono" pitchFamily="49" charset="0"/>
                <a:ea typeface="JetBrains Mono" pitchFamily="49" charset="-122"/>
                <a:cs typeface="JetBrains Mono" pitchFamily="49" charset="-120"/>
              </a:rPr>
              <a:t>23 Oct 2026 · github.com/GabyD-web/contract-clause-nlp · tag v1.0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8460F"/>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53160"/>
            <a:ext cx="9810750" cy="136652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1611"/>
                </a:solidFill>
                <a:latin typeface="Syne" pitchFamily="18" charset="0"/>
                <a:ea typeface="Syne" pitchFamily="18" charset="-122"/>
                <a:cs typeface="Syne" pitchFamily="18" charset="-120"/>
              </a:rPr>
              <a:t>In due diligence, a junior lawyer reads every clause by hand</a:t>
            </a:r>
            <a:endParaRPr lang="en-US" sz="3200" dirty="0"/>
          </a:p>
        </p:txBody>
      </p:sp>
      <p:sp>
        <p:nvSpPr>
          <p:cNvPr id="4" name="Shape 2"/>
          <p:cNvSpPr/>
          <p:nvPr/>
        </p:nvSpPr>
        <p:spPr>
          <a:xfrm>
            <a:off x="819150" y="2818130"/>
            <a:ext cx="3380740" cy="2433320"/>
          </a:xfrm>
          <a:prstGeom prst="roundRect">
            <a:avLst>
              <a:gd name="adj" fmla="val 6002"/>
            </a:avLst>
          </a:prstGeom>
          <a:solidFill>
            <a:srgbClr val="FFFFFF"/>
          </a:solidFill>
          <a:ln w="12700">
            <a:solidFill>
              <a:srgbClr val="EADBCB"/>
            </a:solidFill>
            <a:prstDash val="solid"/>
          </a:ln>
        </p:spPr>
      </p:sp>
      <p:sp>
        <p:nvSpPr>
          <p:cNvPr id="5" name="Text 3"/>
          <p:cNvSpPr/>
          <p:nvPr/>
        </p:nvSpPr>
        <p:spPr>
          <a:xfrm>
            <a:off x="1127760" y="3126740"/>
            <a:ext cx="284642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6A1B"/>
                </a:solidFill>
                <a:latin typeface="Syne" pitchFamily="18" charset="0"/>
                <a:ea typeface="Syne" pitchFamily="18" charset="-122"/>
                <a:cs typeface="Syne" pitchFamily="18" charset="-120"/>
              </a:rPr>
              <a:t>01</a:t>
            </a:r>
            <a:endParaRPr lang="en-US" sz="3600" dirty="0"/>
          </a:p>
        </p:txBody>
      </p:sp>
      <p:sp>
        <p:nvSpPr>
          <p:cNvPr id="6" name="Text 4"/>
          <p:cNvSpPr/>
          <p:nvPr/>
        </p:nvSpPr>
        <p:spPr>
          <a:xfrm>
            <a:off x="1127760" y="3710940"/>
            <a:ext cx="284642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1611"/>
                </a:solidFill>
                <a:latin typeface="Syne" pitchFamily="18" charset="0"/>
                <a:ea typeface="Syne" pitchFamily="18" charset="-122"/>
                <a:cs typeface="Syne" pitchFamily="18" charset="-120"/>
              </a:rPr>
              <a:t>Tag the clause</a:t>
            </a:r>
            <a:endParaRPr lang="en-US" sz="2000" dirty="0"/>
          </a:p>
        </p:txBody>
      </p:sp>
      <p:sp>
        <p:nvSpPr>
          <p:cNvPr id="7" name="Text 5"/>
          <p:cNvSpPr/>
          <p:nvPr/>
        </p:nvSpPr>
        <p:spPr>
          <a:xfrm>
            <a:off x="1127760" y="4142740"/>
            <a:ext cx="284642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E4D41"/>
                </a:solidFill>
                <a:latin typeface="DM Sans" pitchFamily="34" charset="0"/>
                <a:ea typeface="DM Sans" pitchFamily="34" charset="-122"/>
                <a:cs typeface="DM Sans" pitchFamily="34" charset="-120"/>
              </a:rPr>
              <a:t>Classify it into one of </a:t>
            </a:r>
            <a:r>
              <a:rPr lang="en-US" sz="1500" b="1" dirty="0">
                <a:solidFill>
                  <a:srgbClr val="1F1611"/>
                </a:solidFill>
                <a:latin typeface="DM Sans" pitchFamily="34" charset="0"/>
                <a:ea typeface="DM Sans" pitchFamily="34" charset="-122"/>
                <a:cs typeface="DM Sans" pitchFamily="34" charset="-120"/>
              </a:rPr>
              <a:t>100 clause types</a:t>
            </a:r>
            <a:r>
              <a:rPr lang="en-US" sz="1500" dirty="0">
                <a:solidFill>
                  <a:srgbClr val="5E4D41"/>
                </a:solidFill>
                <a:latin typeface="DM Sans" pitchFamily="34" charset="0"/>
                <a:ea typeface="DM Sans" pitchFamily="34" charset="-122"/>
                <a:cs typeface="DM Sans" pitchFamily="34" charset="-120"/>
              </a:rPr>
              <a:t> used by the review checklist.</a:t>
            </a:r>
            <a:endParaRPr lang="en-US" sz="1500" dirty="0"/>
          </a:p>
        </p:txBody>
      </p:sp>
      <p:sp>
        <p:nvSpPr>
          <p:cNvPr id="8" name="Shape 6"/>
          <p:cNvSpPr/>
          <p:nvPr/>
        </p:nvSpPr>
        <p:spPr>
          <a:xfrm>
            <a:off x="4415790" y="2818130"/>
            <a:ext cx="3380740" cy="2433320"/>
          </a:xfrm>
          <a:prstGeom prst="roundRect">
            <a:avLst>
              <a:gd name="adj" fmla="val 6002"/>
            </a:avLst>
          </a:prstGeom>
          <a:solidFill>
            <a:srgbClr val="FFFFFF"/>
          </a:solidFill>
          <a:ln w="12700">
            <a:solidFill>
              <a:srgbClr val="EADBCB"/>
            </a:solidFill>
            <a:prstDash val="solid"/>
          </a:ln>
        </p:spPr>
      </p:sp>
      <p:sp>
        <p:nvSpPr>
          <p:cNvPr id="9" name="Text 7"/>
          <p:cNvSpPr/>
          <p:nvPr/>
        </p:nvSpPr>
        <p:spPr>
          <a:xfrm>
            <a:off x="4724400" y="3126740"/>
            <a:ext cx="284642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6A1B"/>
                </a:solidFill>
                <a:latin typeface="Syne" pitchFamily="18" charset="0"/>
                <a:ea typeface="Syne" pitchFamily="18" charset="-122"/>
                <a:cs typeface="Syne" pitchFamily="18" charset="-120"/>
              </a:rPr>
              <a:t>02</a:t>
            </a:r>
            <a:endParaRPr lang="en-US" sz="3600" dirty="0"/>
          </a:p>
        </p:txBody>
      </p:sp>
      <p:sp>
        <p:nvSpPr>
          <p:cNvPr id="10" name="Text 8"/>
          <p:cNvSpPr/>
          <p:nvPr/>
        </p:nvSpPr>
        <p:spPr>
          <a:xfrm>
            <a:off x="4724400" y="3710940"/>
            <a:ext cx="284642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1611"/>
                </a:solidFill>
                <a:latin typeface="Syne" pitchFamily="18" charset="0"/>
                <a:ea typeface="Syne" pitchFamily="18" charset="-122"/>
                <a:cs typeface="Syne" pitchFamily="18" charset="-120"/>
              </a:rPr>
              <a:t>Find precedents</a:t>
            </a:r>
            <a:endParaRPr lang="en-US" sz="2000" dirty="0"/>
          </a:p>
        </p:txBody>
      </p:sp>
      <p:sp>
        <p:nvSpPr>
          <p:cNvPr id="11" name="Text 9"/>
          <p:cNvSpPr/>
          <p:nvPr/>
        </p:nvSpPr>
        <p:spPr>
          <a:xfrm>
            <a:off x="4724400" y="4142740"/>
            <a:ext cx="284642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E4D41"/>
                </a:solidFill>
                <a:latin typeface="DM Sans" pitchFamily="34" charset="0"/>
                <a:ea typeface="DM Sans" pitchFamily="34" charset="-122"/>
                <a:cs typeface="DM Sans" pitchFamily="34" charset="-120"/>
              </a:rPr>
              <a:t>Retrieve similar clauses from a </a:t>
            </a:r>
            <a:r>
              <a:rPr lang="en-US" sz="1500" b="1" dirty="0">
                <a:solidFill>
                  <a:srgbClr val="1F1611"/>
                </a:solidFill>
                <a:latin typeface="DM Sans" pitchFamily="34" charset="0"/>
                <a:ea typeface="DM Sans" pitchFamily="34" charset="-122"/>
                <a:cs typeface="DM Sans" pitchFamily="34" charset="-120"/>
              </a:rPr>
              <a:t>60,000-clause bank</a:t>
            </a:r>
            <a:r>
              <a:rPr lang="en-US" sz="1500" dirty="0">
                <a:solidFill>
                  <a:srgbClr val="5E4D41"/>
                </a:solidFill>
                <a:latin typeface="DM Sans" pitchFamily="34" charset="0"/>
                <a:ea typeface="DM Sans" pitchFamily="34" charset="-122"/>
                <a:cs typeface="DM Sans" pitchFamily="34" charset="-120"/>
              </a:rPr>
              <a:t>, from a pasted clause or a question.</a:t>
            </a:r>
            <a:endParaRPr lang="en-US" sz="1500" dirty="0"/>
          </a:p>
        </p:txBody>
      </p:sp>
      <p:sp>
        <p:nvSpPr>
          <p:cNvPr id="12" name="Shape 10"/>
          <p:cNvSpPr/>
          <p:nvPr/>
        </p:nvSpPr>
        <p:spPr>
          <a:xfrm>
            <a:off x="8006080" y="2811780"/>
            <a:ext cx="3373120" cy="2446020"/>
          </a:xfrm>
          <a:prstGeom prst="roundRect">
            <a:avLst>
              <a:gd name="adj" fmla="val 6231"/>
            </a:avLst>
          </a:prstGeom>
          <a:solidFill>
            <a:srgbClr val="1F1611"/>
          </a:solidFill>
          <a:ln/>
        </p:spPr>
      </p:sp>
      <p:sp>
        <p:nvSpPr>
          <p:cNvPr id="13" name="Text 11"/>
          <p:cNvSpPr/>
          <p:nvPr/>
        </p:nvSpPr>
        <p:spPr>
          <a:xfrm>
            <a:off x="8310880" y="3116580"/>
            <a:ext cx="284642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6A1B"/>
                </a:solidFill>
                <a:latin typeface="Syne" pitchFamily="18" charset="0"/>
                <a:ea typeface="Syne" pitchFamily="18" charset="-122"/>
                <a:cs typeface="Syne" pitchFamily="18" charset="-120"/>
              </a:rPr>
              <a:t>03</a:t>
            </a:r>
            <a:endParaRPr lang="en-US" sz="3600" dirty="0"/>
          </a:p>
        </p:txBody>
      </p:sp>
      <p:sp>
        <p:nvSpPr>
          <p:cNvPr id="14" name="Text 12"/>
          <p:cNvSpPr/>
          <p:nvPr/>
        </p:nvSpPr>
        <p:spPr>
          <a:xfrm>
            <a:off x="8310880" y="3700780"/>
            <a:ext cx="284642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BF6F0"/>
                </a:solidFill>
                <a:latin typeface="Syne" pitchFamily="18" charset="0"/>
                <a:ea typeface="Syne" pitchFamily="18" charset="-122"/>
                <a:cs typeface="Syne" pitchFamily="18" charset="-120"/>
              </a:rPr>
              <a:t>Know when to stop</a:t>
            </a:r>
            <a:endParaRPr lang="en-US" sz="2000" dirty="0"/>
          </a:p>
        </p:txBody>
      </p:sp>
      <p:sp>
        <p:nvSpPr>
          <p:cNvPr id="15" name="Text 13"/>
          <p:cNvSpPr/>
          <p:nvPr/>
        </p:nvSpPr>
        <p:spPr>
          <a:xfrm>
            <a:off x="8310880" y="4132580"/>
            <a:ext cx="284642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9DCCF"/>
                </a:solidFill>
                <a:latin typeface="DM Sans" pitchFamily="34" charset="0"/>
                <a:ea typeface="DM Sans" pitchFamily="34" charset="-122"/>
                <a:cs typeface="DM Sans" pitchFamily="34" charset="-120"/>
              </a:rPr>
              <a:t>Say how sure it is, and </a:t>
            </a:r>
            <a:r>
              <a:rPr lang="en-US" sz="1500" b="1" dirty="0">
                <a:solidFill>
                  <a:srgbClr val="FBF6F0"/>
                </a:solidFill>
                <a:latin typeface="DM Sans" pitchFamily="34" charset="0"/>
                <a:ea typeface="DM Sans" pitchFamily="34" charset="-122"/>
                <a:cs typeface="DM Sans" pitchFamily="34" charset="-120"/>
              </a:rPr>
              <a:t>hand uncertain clauses to a lawyer</a:t>
            </a:r>
            <a:r>
              <a:rPr lang="en-US" sz="1500" dirty="0">
                <a:solidFill>
                  <a:srgbClr val="E9DCCF"/>
                </a:solidFill>
                <a:latin typeface="DM Sans" pitchFamily="34" charset="0"/>
                <a:ea typeface="DM Sans" pitchFamily="34" charset="-122"/>
                <a:cs typeface="DM Sans" pitchFamily="34" charset="-120"/>
              </a:rPr>
              <a:t>.</a:t>
            </a:r>
            <a:endParaRPr lang="en-US" sz="1500" dirty="0"/>
          </a:p>
        </p:txBody>
      </p:sp>
      <p:sp>
        <p:nvSpPr>
          <p:cNvPr id="16" name="Text 14"/>
          <p:cNvSpPr/>
          <p:nvPr/>
        </p:nvSpPr>
        <p:spPr>
          <a:xfrm>
            <a:off x="812800" y="5575300"/>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E4D41"/>
                </a:solidFill>
                <a:latin typeface="DM Sans" pitchFamily="34" charset="0"/>
                <a:ea typeface="DM Sans" pitchFamily="34" charset="-122"/>
                <a:cs typeface="DM Sans" pitchFamily="34" charset="-120"/>
              </a:rPr>
              <a:t>European clients will not deploy a black box: every number in this talk is reproducible from the repository.</a:t>
            </a:r>
            <a:endParaRPr lang="en-US" sz="1500" dirty="0"/>
          </a:p>
        </p:txBody>
      </p:sp>
      <p:sp>
        <p:nvSpPr>
          <p:cNvPr id="17" name="Text 15"/>
          <p:cNvSpPr/>
          <p:nvPr/>
        </p:nvSpPr>
        <p:spPr>
          <a:xfrm>
            <a:off x="812800" y="6238241"/>
            <a:ext cx="17551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564"/>
                </a:solidFill>
                <a:latin typeface="DM Sans" pitchFamily="34" charset="0"/>
                <a:ea typeface="DM Sans" pitchFamily="34" charset="-122"/>
                <a:cs typeface="DM Sans" pitchFamily="34" charset="-120"/>
              </a:rPr>
              <a:t>Contract Clause NLP</a:t>
            </a:r>
            <a:endParaRPr lang="en-US" sz="1200" dirty="0"/>
          </a:p>
        </p:txBody>
      </p:sp>
      <p:sp>
        <p:nvSpPr>
          <p:cNvPr id="18" name="Text 16"/>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564"/>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196929"/>
          </a:xfrm>
          <a:prstGeom prst="rect">
            <a:avLst/>
          </a:prstGeom>
          <a:noFill/>
          <a:ln/>
        </p:spPr>
        <p:txBody>
          <a:bodyPr wrap="square" lIns="0" tIns="0" rIns="0" bIns="0" rtlCol="0" anchor="t">
            <a:normAutofit/>
          </a:bodyPr>
          <a:lstStyle/>
          <a:p>
            <a:pPr algn="l" indent="0" marL="0">
              <a:lnSpc>
                <a:spcPts val="1370"/>
              </a:lnSpc>
              <a:buNone/>
            </a:pPr>
            <a:r>
              <a:rPr lang="en-US" sz="979" spc="200" kern="0" dirty="0">
                <a:solidFill>
                  <a:srgbClr val="B8460F"/>
                </a:solidFill>
                <a:latin typeface="JetBrains Mono" pitchFamily="49" charset="0"/>
                <a:ea typeface="JetBrains Mono" pitchFamily="49" charset="-122"/>
                <a:cs typeface="JetBrains Mono" pitchFamily="49" charset="-120"/>
              </a:rPr>
              <a:t>THE DATA · LEDGAR (LEXGLUE)</a:t>
            </a:r>
            <a:endParaRPr lang="en-US" sz="979" dirty="0"/>
          </a:p>
        </p:txBody>
      </p:sp>
      <p:sp>
        <p:nvSpPr>
          <p:cNvPr id="3" name="Text 1"/>
          <p:cNvSpPr/>
          <p:nvPr>
            <p:ph type="title"/>
          </p:nvPr>
        </p:nvSpPr>
        <p:spPr>
          <a:xfrm>
            <a:off x="812800" y="1111329"/>
            <a:ext cx="10464800" cy="1103551"/>
          </a:xfrm>
          <a:prstGeom prst="rect">
            <a:avLst/>
          </a:prstGeom>
          <a:noFill/>
          <a:ln/>
        </p:spPr>
        <p:txBody>
          <a:bodyPr wrap="square" lIns="0" tIns="0" rIns="0" bIns="0" rtlCol="0" anchor="t">
            <a:normAutofit/>
          </a:bodyPr>
          <a:lstStyle/>
          <a:p>
            <a:pPr algn="l" indent="0" marL="0">
              <a:lnSpc>
                <a:spcPts val="3509"/>
              </a:lnSpc>
              <a:buNone/>
            </a:pPr>
            <a:r>
              <a:rPr lang="en-US" sz="3190" b="1" i="0" dirty="0">
                <a:solidFill>
                  <a:srgbClr val="1F1611"/>
                </a:solidFill>
                <a:latin typeface="Syne" pitchFamily="18" charset="0"/>
                <a:ea typeface="Syne" pitchFamily="18" charset="-122"/>
                <a:cs typeface="Syne" pitchFamily="18" charset="-120"/>
              </a:rPr>
              <a:t>80,000 clauses from US contracts, very unevenly spread</a:t>
            </a:r>
            <a:endParaRPr lang="en-US" sz="3190" dirty="0"/>
          </a:p>
        </p:txBody>
      </p:sp>
      <p:pic>
        <p:nvPicPr>
          <p:cNvPr id="4" name="Image 0" descr="Test clauses per clause type, sorted from most to least frequent, log scale: from 582 down to 2">    </p:cNvPr>
          <p:cNvPicPr>
            <a:picLocks noChangeAspect="1"/>
          </p:cNvPicPr>
          <p:nvPr/>
        </p:nvPicPr>
        <p:blipFill>
          <a:blip r:embed="rId1"/>
          <a:srcRect l="-2" r="-2" t="0" b="0"/>
          <a:stretch/>
        </p:blipFill>
        <p:spPr>
          <a:xfrm>
            <a:off x="812800" y="1893650"/>
            <a:ext cx="6985000" cy="2667000"/>
          </a:xfrm>
          <a:prstGeom prst="rect">
            <a:avLst/>
          </a:prstGeom>
        </p:spPr>
      </p:pic>
      <p:sp>
        <p:nvSpPr>
          <p:cNvPr id="5" name="Text 2"/>
          <p:cNvSpPr/>
          <p:nvPr/>
        </p:nvSpPr>
        <p:spPr>
          <a:xfrm>
            <a:off x="812800" y="4687650"/>
            <a:ext cx="30111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4D41"/>
                </a:solidFill>
                <a:latin typeface="DM Sans" pitchFamily="34" charset="0"/>
                <a:ea typeface="DM Sans" pitchFamily="34" charset="-122"/>
                <a:cs typeface="DM Sans" pitchFamily="34" charset="-120"/>
              </a:rPr>
              <a:t>Test clauses per type, sorted (log scale)</a:t>
            </a:r>
            <a:endParaRPr lang="en-US" sz="1200" dirty="0"/>
          </a:p>
        </p:txBody>
      </p:sp>
      <p:sp>
        <p:nvSpPr>
          <p:cNvPr id="6" name="Text 3"/>
          <p:cNvSpPr/>
          <p:nvPr/>
        </p:nvSpPr>
        <p:spPr>
          <a:xfrm>
            <a:off x="3823970" y="4662250"/>
            <a:ext cx="1063307" cy="264160"/>
          </a:xfrm>
          <a:custGeom>
            <a:avLst/>
            <a:gdLst/>
            <a:ahLst/>
            <a:cxnLst/>
            <a:rect l="l" t="t" r="r" b="b"/>
            <a:pathLst>
              <a:path w="1063307" h="264160">
                <a:moveTo>
                  <a:pt x="132080" y="0"/>
                </a:moveTo>
                <a:lnTo>
                  <a:pt x="931227" y="0"/>
                </a:lnTo>
                <a:arcTo hR="132080" wR="132080" stAng="16200000" swAng="5400000"/>
                <a:lnTo>
                  <a:pt x="1063307" y="132080"/>
                </a:lnTo>
                <a:arcTo hR="132080" wR="132080" stAng="0" swAng="5400000"/>
                <a:lnTo>
                  <a:pt x="132080" y="264160"/>
                </a:lnTo>
                <a:arcTo hR="132080" wR="132080" stAng="5400000" swAng="5400000"/>
                <a:lnTo>
                  <a:pt x="0" y="132080"/>
                </a:lnTo>
                <a:arcTo hR="132080" wR="132080" stAng="10800000" swAng="5400000"/>
                <a:close/>
              </a:path>
            </a:pathLst>
          </a:custGeom>
          <a:solidFill>
            <a:srgbClr val="F26A1B"/>
          </a:solidFill>
          <a:ln/>
        </p:spPr>
        <p:txBody>
          <a:bodyPr wrap="none" lIns="0" tIns="0" rIns="0" bIns="0" rtlCol="0" anchor="ctr">
            <a:normAutofit/>
          </a:bodyPr>
          <a:lstStyle/>
          <a:p>
            <a:pPr algn="ctr" indent="0" marL="0">
              <a:lnSpc>
                <a:spcPts val="1680"/>
              </a:lnSpc>
              <a:buNone/>
            </a:pPr>
            <a:r>
              <a:rPr lang="en-US" sz="1200" b="1" dirty="0">
                <a:solidFill>
                  <a:srgbClr val="1F1611"/>
                </a:solidFill>
                <a:latin typeface="DM Sans" pitchFamily="34" charset="0"/>
                <a:ea typeface="DM Sans" pitchFamily="34" charset="-122"/>
                <a:cs typeface="DM Sans" pitchFamily="34" charset="-120"/>
              </a:rPr>
              <a:t>20 frequent</a:t>
            </a:r>
            <a:endParaRPr lang="en-US" sz="1200" dirty="0"/>
          </a:p>
        </p:txBody>
      </p:sp>
      <p:sp>
        <p:nvSpPr>
          <p:cNvPr id="7" name="Text 4"/>
          <p:cNvSpPr/>
          <p:nvPr/>
        </p:nvSpPr>
        <p:spPr>
          <a:xfrm>
            <a:off x="5090478" y="4662250"/>
            <a:ext cx="705168" cy="264160"/>
          </a:xfrm>
          <a:custGeom>
            <a:avLst/>
            <a:gdLst/>
            <a:ahLst/>
            <a:cxnLst/>
            <a:rect l="l" t="t" r="r" b="b"/>
            <a:pathLst>
              <a:path w="705168" h="264160">
                <a:moveTo>
                  <a:pt x="132080" y="0"/>
                </a:moveTo>
                <a:lnTo>
                  <a:pt x="573088" y="0"/>
                </a:lnTo>
                <a:arcTo hR="132080" wR="132080" stAng="16200000" swAng="5400000"/>
                <a:lnTo>
                  <a:pt x="705168" y="132080"/>
                </a:lnTo>
                <a:arcTo hR="132080" wR="132080" stAng="0" swAng="5400000"/>
                <a:lnTo>
                  <a:pt x="132080" y="264160"/>
                </a:lnTo>
                <a:arcTo hR="132080" wR="132080" stAng="5400000" swAng="5400000"/>
                <a:lnTo>
                  <a:pt x="0" y="132080"/>
                </a:lnTo>
                <a:arcTo hR="132080" wR="132080" stAng="10800000" swAng="5400000"/>
                <a:close/>
              </a:path>
            </a:pathLst>
          </a:custGeom>
          <a:solidFill>
            <a:srgbClr val="F7A06B"/>
          </a:solidFill>
          <a:ln/>
        </p:spPr>
        <p:txBody>
          <a:bodyPr wrap="none" lIns="0" tIns="0" rIns="0" bIns="0" rtlCol="0" anchor="ctr">
            <a:normAutofit/>
          </a:bodyPr>
          <a:lstStyle/>
          <a:p>
            <a:pPr algn="ctr" indent="0" marL="0">
              <a:lnSpc>
                <a:spcPts val="1680"/>
              </a:lnSpc>
              <a:buNone/>
            </a:pPr>
            <a:r>
              <a:rPr lang="en-US" sz="1200" b="1" dirty="0">
                <a:solidFill>
                  <a:srgbClr val="1F1611"/>
                </a:solidFill>
                <a:latin typeface="DM Sans" pitchFamily="34" charset="0"/>
                <a:ea typeface="DM Sans" pitchFamily="34" charset="-122"/>
                <a:cs typeface="DM Sans" pitchFamily="34" charset="-120"/>
              </a:rPr>
              <a:t>40 mid</a:t>
            </a:r>
            <a:endParaRPr lang="en-US" sz="1200" dirty="0"/>
          </a:p>
        </p:txBody>
      </p:sp>
      <p:sp>
        <p:nvSpPr>
          <p:cNvPr id="8" name="Text 5"/>
          <p:cNvSpPr/>
          <p:nvPr/>
        </p:nvSpPr>
        <p:spPr>
          <a:xfrm>
            <a:off x="5998845" y="4662250"/>
            <a:ext cx="724694" cy="264160"/>
          </a:xfrm>
          <a:custGeom>
            <a:avLst/>
            <a:gdLst/>
            <a:ahLst/>
            <a:cxnLst/>
            <a:rect l="l" t="t" r="r" b="b"/>
            <a:pathLst>
              <a:path w="724694" h="264160">
                <a:moveTo>
                  <a:pt x="132080" y="0"/>
                </a:moveTo>
                <a:lnTo>
                  <a:pt x="592614" y="0"/>
                </a:lnTo>
                <a:arcTo hR="132080" wR="132080" stAng="16200000" swAng="5400000"/>
                <a:lnTo>
                  <a:pt x="724694" y="132080"/>
                </a:lnTo>
                <a:arcTo hR="132080" wR="132080" stAng="0" swAng="5400000"/>
                <a:lnTo>
                  <a:pt x="132080" y="264160"/>
                </a:lnTo>
                <a:arcTo hR="132080" wR="132080" stAng="5400000" swAng="5400000"/>
                <a:lnTo>
                  <a:pt x="0" y="132080"/>
                </a:lnTo>
                <a:arcTo hR="132080" wR="132080" stAng="10800000" swAng="5400000"/>
                <a:close/>
              </a:path>
            </a:pathLst>
          </a:custGeom>
          <a:solidFill>
            <a:srgbClr val="B8460F"/>
          </a:solidFill>
          <a:ln/>
        </p:spPr>
        <p:txBody>
          <a:bodyPr wrap="none" lIns="0" tIns="0" rIns="0" bIns="0" rtlCol="0" anchor="ctr">
            <a:normAutofit/>
          </a:bodyPr>
          <a:lstStyle/>
          <a:p>
            <a:pPr algn="ctr" indent="0" marL="0">
              <a:lnSpc>
                <a:spcPts val="1680"/>
              </a:lnSpc>
              <a:buNone/>
            </a:pPr>
            <a:r>
              <a:rPr lang="en-US" sz="1200" b="1" dirty="0">
                <a:solidFill>
                  <a:srgbClr val="FBF6F0"/>
                </a:solidFill>
                <a:latin typeface="DM Sans" pitchFamily="34" charset="0"/>
                <a:ea typeface="DM Sans" pitchFamily="34" charset="-122"/>
                <a:cs typeface="DM Sans" pitchFamily="34" charset="-120"/>
              </a:rPr>
              <a:t>40 rare</a:t>
            </a:r>
            <a:endParaRPr lang="en-US" sz="1200" dirty="0"/>
          </a:p>
        </p:txBody>
      </p:sp>
      <p:sp>
        <p:nvSpPr>
          <p:cNvPr id="9" name="Text 6"/>
          <p:cNvSpPr/>
          <p:nvPr/>
        </p:nvSpPr>
        <p:spPr>
          <a:xfrm>
            <a:off x="8204200" y="2569290"/>
            <a:ext cx="3270250"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B8460F"/>
                </a:solidFill>
                <a:latin typeface="Syne" pitchFamily="18" charset="0"/>
                <a:ea typeface="Syne" pitchFamily="18" charset="-122"/>
                <a:cs typeface="Syne" pitchFamily="18" charset="-120"/>
              </a:rPr>
              <a:t>138×</a:t>
            </a:r>
            <a:endParaRPr lang="en-US" sz="4400" dirty="0"/>
          </a:p>
        </p:txBody>
      </p:sp>
      <p:sp>
        <p:nvSpPr>
          <p:cNvPr id="10" name="Text 7"/>
          <p:cNvSpPr/>
          <p:nvPr/>
        </p:nvSpPr>
        <p:spPr>
          <a:xfrm>
            <a:off x="8204200" y="3153490"/>
            <a:ext cx="327025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4D41"/>
                </a:solidFill>
                <a:latin typeface="DM Sans" pitchFamily="34" charset="0"/>
                <a:ea typeface="DM Sans" pitchFamily="34" charset="-122"/>
                <a:cs typeface="DM Sans" pitchFamily="34" charset="-120"/>
              </a:rPr>
              <a:t>Governing Laws has 3,167 training clauses, Books has 23</a:t>
            </a:r>
            <a:endParaRPr lang="en-US" sz="1400" dirty="0"/>
          </a:p>
        </p:txBody>
      </p:sp>
      <p:sp>
        <p:nvSpPr>
          <p:cNvPr id="11" name="Text 8"/>
          <p:cNvSpPr/>
          <p:nvPr/>
        </p:nvSpPr>
        <p:spPr>
          <a:xfrm>
            <a:off x="8204200" y="3862150"/>
            <a:ext cx="3270250"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B8460F"/>
                </a:solidFill>
                <a:latin typeface="Syne" pitchFamily="18" charset="0"/>
                <a:ea typeface="Syne" pitchFamily="18" charset="-122"/>
                <a:cs typeface="Syne" pitchFamily="18" charset="-120"/>
              </a:rPr>
              <a:t>2.8%</a:t>
            </a:r>
            <a:endParaRPr lang="en-US" sz="4400" dirty="0"/>
          </a:p>
        </p:txBody>
      </p:sp>
      <p:sp>
        <p:nvSpPr>
          <p:cNvPr id="12" name="Text 9"/>
          <p:cNvSpPr/>
          <p:nvPr/>
        </p:nvSpPr>
        <p:spPr>
          <a:xfrm>
            <a:off x="8204200" y="4446350"/>
            <a:ext cx="327025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4D41"/>
                </a:solidFill>
                <a:latin typeface="DM Sans" pitchFamily="34" charset="0"/>
                <a:ea typeface="DM Sans" pitchFamily="34" charset="-122"/>
                <a:cs typeface="DM Sans" pitchFamily="34" charset="-120"/>
              </a:rPr>
              <a:t>of test clauses also appear in train: we score with and without them</a:t>
            </a:r>
            <a:endParaRPr lang="en-US" sz="1400" dirty="0"/>
          </a:p>
        </p:txBody>
      </p:sp>
      <p:sp>
        <p:nvSpPr>
          <p:cNvPr id="13" name="Text 10"/>
          <p:cNvSpPr/>
          <p:nvPr/>
        </p:nvSpPr>
        <p:spPr>
          <a:xfrm>
            <a:off x="812800" y="5180409"/>
            <a:ext cx="10566400" cy="661591"/>
          </a:xfrm>
          <a:custGeom>
            <a:avLst/>
            <a:gdLst/>
            <a:ahLst/>
            <a:cxnLst/>
            <a:rect l="l" t="t" r="r" b="b"/>
            <a:pathLst>
              <a:path w="10566400" h="661591">
                <a:moveTo>
                  <a:pt x="101600" y="0"/>
                </a:moveTo>
                <a:lnTo>
                  <a:pt x="10464800" y="0"/>
                </a:lnTo>
                <a:arcTo hR="101600" wR="101600" stAng="16200000" swAng="5400000"/>
                <a:lnTo>
                  <a:pt x="10566400" y="559991"/>
                </a:lnTo>
                <a:arcTo hR="101600" wR="101600" stAng="0" swAng="5400000"/>
                <a:lnTo>
                  <a:pt x="101600" y="661591"/>
                </a:lnTo>
                <a:arcTo hR="101600" wR="101600" stAng="5400000" swAng="5400000"/>
                <a:lnTo>
                  <a:pt x="0" y="101600"/>
                </a:lnTo>
                <a:arcTo hR="101600" wR="101600" stAng="10800000" swAng="5400000"/>
                <a:close/>
              </a:path>
            </a:pathLst>
          </a:custGeom>
          <a:solidFill>
            <a:srgbClr val="FFE3CF"/>
          </a:solidFill>
          <a:ln/>
        </p:spPr>
        <p:txBody>
          <a:bodyPr wrap="none" lIns="0" tIns="127000" rIns="0" bIns="101600" rtlCol="0" anchor="t">
            <a:normAutofit/>
          </a:bodyPr>
          <a:lstStyle/>
          <a:p>
            <a:pPr algn="ctr" indent="0" marL="0">
              <a:lnSpc>
                <a:spcPts val="1795"/>
              </a:lnSpc>
              <a:buNone/>
            </a:pPr>
            <a:r>
              <a:rPr lang="en-US" sz="1282" dirty="0">
                <a:solidFill>
                  <a:srgbClr val="1F1611"/>
                </a:solidFill>
                <a:latin typeface="DM Sans" pitchFamily="34" charset="0"/>
                <a:ea typeface="DM Sans" pitchFamily="34" charset="-122"/>
                <a:cs typeface="DM Sans" pitchFamily="34" charset="-120"/>
              </a:rPr>
              <a:t>Not in the data: EU law, French, party or contract-type metadata. So </a:t>
            </a:r>
            <a:r>
              <a:rPr lang="en-US" sz="1282" b="1" dirty="0">
                <a:solidFill>
                  <a:srgbClr val="1F1611"/>
                </a:solidFill>
                <a:latin typeface="DM Sans" pitchFamily="34" charset="0"/>
                <a:ea typeface="DM Sans" pitchFamily="34" charset="-122"/>
                <a:cs typeface="DM Sans" pitchFamily="34" charset="-120"/>
              </a:rPr>
              <a:t>macro-F1</a:t>
            </a:r>
            <a:r>
              <a:rPr lang="en-US" sz="1282" dirty="0">
                <a:solidFill>
                  <a:srgbClr val="1F1611"/>
                </a:solidFill>
                <a:latin typeface="DM Sans" pitchFamily="34" charset="0"/>
                <a:ea typeface="DM Sans" pitchFamily="34" charset="-122"/>
                <a:cs typeface="DM Sans" pitchFamily="34" charset="-120"/>
              </a:rPr>
              <a:t> is our headline metric, and the audit builds its own tests.</a:t>
            </a:r>
            <a:endParaRPr lang="en-US" sz="1282" dirty="0"/>
          </a:p>
        </p:txBody>
      </p:sp>
      <p:sp>
        <p:nvSpPr>
          <p:cNvPr id="14" name="Text 11"/>
          <p:cNvSpPr/>
          <p:nvPr/>
        </p:nvSpPr>
        <p:spPr>
          <a:xfrm>
            <a:off x="812800" y="6238241"/>
            <a:ext cx="27677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564"/>
                </a:solidFill>
                <a:latin typeface="DM Sans" pitchFamily="34" charset="0"/>
                <a:ea typeface="DM Sans" pitchFamily="34" charset="-122"/>
                <a:cs typeface="DM Sans" pitchFamily="34" charset="-120"/>
              </a:rPr>
              <a:t>Source: notebooks/01_eda.ipynb</a:t>
            </a:r>
            <a:endParaRPr lang="en-US" sz="1200" dirty="0"/>
          </a:p>
        </p:txBody>
      </p:sp>
      <p:sp>
        <p:nvSpPr>
          <p:cNvPr id="15" name="Text 12"/>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564"/>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7DA"/>
        </a:solidFill>
      </p:bgPr>
    </p:bg>
    <p:spTree>
      <p:nvGrpSpPr>
        <p:cNvPr id="1" name=""/>
        <p:cNvGrpSpPr/>
        <p:nvPr/>
      </p:nvGrpSpPr>
      <p:grpSpPr>
        <a:xfrm>
          <a:off x="0" y="0"/>
          <a:ext cx="0" cy="0"/>
          <a:chOff x="0" y="0"/>
          <a:chExt cx="0" cy="0"/>
        </a:xfrm>
      </p:grpSpPr>
      <p:sp>
        <p:nvSpPr>
          <p:cNvPr id="2" name="Text 0"/>
          <p:cNvSpPr/>
          <p:nvPr/>
        </p:nvSpPr>
        <p:spPr>
          <a:xfrm>
            <a:off x="812800" y="812800"/>
            <a:ext cx="10883392" cy="229394"/>
          </a:xfrm>
          <a:prstGeom prst="rect">
            <a:avLst/>
          </a:prstGeom>
          <a:noFill/>
          <a:ln/>
        </p:spPr>
        <p:txBody>
          <a:bodyPr wrap="square" lIns="0" tIns="0" rIns="0" bIns="0" rtlCol="0" anchor="t">
            <a:normAutofit/>
          </a:bodyPr>
          <a:lstStyle/>
          <a:p>
            <a:pPr algn="l" indent="0" marL="0">
              <a:lnSpc>
                <a:spcPts val="1622"/>
              </a:lnSpc>
              <a:buNone/>
            </a:pPr>
            <a:r>
              <a:rPr lang="en-US" sz="1159" spc="200" kern="0" dirty="0">
                <a:solidFill>
                  <a:srgbClr val="B8460F"/>
                </a:solidFill>
                <a:latin typeface="JetBrains Mono" pitchFamily="49" charset="0"/>
                <a:ea typeface="JetBrains Mono" pitchFamily="49" charset="-122"/>
                <a:cs typeface="JetBrains Mono" pitchFamily="49" charset="-120"/>
              </a:rPr>
              <a:t>THE PIPELINE</a:t>
            </a:r>
            <a:endParaRPr lang="en-US" sz="1159" dirty="0"/>
          </a:p>
        </p:txBody>
      </p:sp>
      <p:sp>
        <p:nvSpPr>
          <p:cNvPr id="3" name="Text 1"/>
          <p:cNvSpPr/>
          <p:nvPr>
            <p:ph type="title"/>
          </p:nvPr>
        </p:nvSpPr>
        <p:spPr>
          <a:xfrm>
            <a:off x="812800" y="1143794"/>
            <a:ext cx="10883392" cy="880031"/>
          </a:xfrm>
          <a:prstGeom prst="rect">
            <a:avLst/>
          </a:prstGeom>
          <a:noFill/>
          <a:ln/>
        </p:spPr>
        <p:txBody>
          <a:bodyPr wrap="square" lIns="0" tIns="0" rIns="0" bIns="0" rtlCol="0" anchor="t">
            <a:normAutofit/>
          </a:bodyPr>
          <a:lstStyle/>
          <a:p>
            <a:pPr algn="l" indent="0" marL="0">
              <a:lnSpc>
                <a:spcPts val="3377"/>
              </a:lnSpc>
              <a:buNone/>
            </a:pPr>
            <a:r>
              <a:rPr lang="en-US" sz="3070" b="1" i="0" dirty="0">
                <a:solidFill>
                  <a:srgbClr val="1F1611"/>
                </a:solidFill>
                <a:latin typeface="Syne" pitchFamily="18" charset="0"/>
                <a:ea typeface="Syne" pitchFamily="18" charset="-122"/>
                <a:cs typeface="Syne" pitchFamily="18" charset="-120"/>
              </a:rPr>
              <a:t>Two paths: tag the clause, then find its precedents</a:t>
            </a:r>
            <a:endParaRPr lang="en-US" sz="3070" dirty="0"/>
          </a:p>
        </p:txBody>
      </p:sp>
      <p:sp>
        <p:nvSpPr>
          <p:cNvPr id="4" name="Text 2"/>
          <p:cNvSpPr/>
          <p:nvPr/>
        </p:nvSpPr>
        <p:spPr>
          <a:xfrm>
            <a:off x="812800" y="2354025"/>
            <a:ext cx="10883392" cy="229791"/>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8460F"/>
                </a:solidFill>
                <a:latin typeface="JetBrains Mono" pitchFamily="49" charset="0"/>
                <a:ea typeface="JetBrains Mono" pitchFamily="49" charset="-122"/>
                <a:cs typeface="JetBrains Mono" pitchFamily="49" charset="-120"/>
              </a:rPr>
              <a:t>CLASSIFY</a:t>
            </a:r>
            <a:endParaRPr lang="en-US" sz="1159" dirty="0"/>
          </a:p>
        </p:txBody>
      </p:sp>
      <p:sp>
        <p:nvSpPr>
          <p:cNvPr id="5" name="Shape 3"/>
          <p:cNvSpPr/>
          <p:nvPr/>
        </p:nvSpPr>
        <p:spPr>
          <a:xfrm>
            <a:off x="819150" y="2750582"/>
            <a:ext cx="1892300" cy="1069340"/>
          </a:xfrm>
          <a:prstGeom prst="roundRect">
            <a:avLst>
              <a:gd name="adj" fmla="val 11283"/>
            </a:avLst>
          </a:prstGeom>
          <a:solidFill>
            <a:srgbClr val="FBF6F0"/>
          </a:solidFill>
          <a:ln w="12700">
            <a:solidFill>
              <a:srgbClr val="E2CFBC"/>
            </a:solidFill>
            <a:prstDash val="solid"/>
          </a:ln>
        </p:spPr>
      </p:sp>
      <p:sp>
        <p:nvSpPr>
          <p:cNvPr id="6" name="Text 4"/>
          <p:cNvSpPr/>
          <p:nvPr/>
        </p:nvSpPr>
        <p:spPr>
          <a:xfrm>
            <a:off x="1000760" y="2932192"/>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611"/>
                </a:solidFill>
                <a:latin typeface="Syne" pitchFamily="18" charset="0"/>
                <a:ea typeface="Syne" pitchFamily="18" charset="-122"/>
                <a:cs typeface="Syne" pitchFamily="18" charset="-120"/>
              </a:rPr>
              <a:t>Clause</a:t>
            </a:r>
            <a:endParaRPr lang="en-US" sz="1600" dirty="0"/>
          </a:p>
        </p:txBody>
      </p:sp>
      <p:sp>
        <p:nvSpPr>
          <p:cNvPr id="7" name="Text 5"/>
          <p:cNvSpPr/>
          <p:nvPr/>
        </p:nvSpPr>
        <p:spPr>
          <a:xfrm>
            <a:off x="1000760" y="3226832"/>
            <a:ext cx="15798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4D41"/>
                </a:solidFill>
                <a:latin typeface="DM Sans" pitchFamily="34" charset="0"/>
                <a:ea typeface="DM Sans" pitchFamily="34" charset="-122"/>
                <a:cs typeface="DM Sans" pitchFamily="34" charset="-120"/>
              </a:rPr>
              <a:t>English text, cut at 256 tokens</a:t>
            </a:r>
            <a:endParaRPr lang="en-US" sz="1200" dirty="0"/>
          </a:p>
        </p:txBody>
      </p:sp>
      <p:pic>
        <p:nvPicPr>
          <p:cNvPr id="8" name="Image 0" descr="arrow-right">    </p:cNvPr>
          <p:cNvPicPr>
            <a:picLocks noChangeAspect="1"/>
          </p:cNvPicPr>
          <p:nvPr/>
        </p:nvPicPr>
        <p:blipFill>
          <a:blip r:embed="rId1"/>
          <a:srcRect l="0" r="0" t="0" b="0"/>
          <a:stretch/>
        </p:blipFill>
        <p:spPr>
          <a:xfrm>
            <a:off x="2844800" y="3183652"/>
            <a:ext cx="406400" cy="203200"/>
          </a:xfrm>
          <a:prstGeom prst="rect">
            <a:avLst/>
          </a:prstGeom>
        </p:spPr>
      </p:pic>
      <p:sp>
        <p:nvSpPr>
          <p:cNvPr id="9" name="Shape 6"/>
          <p:cNvSpPr/>
          <p:nvPr/>
        </p:nvSpPr>
        <p:spPr>
          <a:xfrm>
            <a:off x="3378200" y="2632472"/>
            <a:ext cx="2667000" cy="1305560"/>
          </a:xfrm>
          <a:prstGeom prst="roundRect">
            <a:avLst>
              <a:gd name="adj" fmla="val 9728"/>
            </a:avLst>
          </a:prstGeom>
          <a:solidFill>
            <a:srgbClr val="1F1611"/>
          </a:solidFill>
          <a:ln/>
        </p:spPr>
      </p:sp>
      <p:sp>
        <p:nvSpPr>
          <p:cNvPr id="10" name="Text 7"/>
          <p:cNvSpPr/>
          <p:nvPr/>
        </p:nvSpPr>
        <p:spPr>
          <a:xfrm>
            <a:off x="3556000" y="2810272"/>
            <a:ext cx="2380742"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F0"/>
                </a:solidFill>
                <a:latin typeface="Syne" pitchFamily="18" charset="0"/>
                <a:ea typeface="Syne" pitchFamily="18" charset="-122"/>
                <a:cs typeface="Syne" pitchFamily="18" charset="-120"/>
              </a:rPr>
              <a:t>Legal-BERT + TF-IDF</a:t>
            </a:r>
            <a:endParaRPr lang="en-US" sz="1600" dirty="0"/>
          </a:p>
        </p:txBody>
      </p:sp>
      <p:sp>
        <p:nvSpPr>
          <p:cNvPr id="11" name="Text 8"/>
          <p:cNvSpPr/>
          <p:nvPr/>
        </p:nvSpPr>
        <p:spPr>
          <a:xfrm>
            <a:off x="3556000" y="3348752"/>
            <a:ext cx="238074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9DCCF"/>
                </a:solidFill>
                <a:latin typeface="DM Sans" pitchFamily="34" charset="0"/>
                <a:ea typeface="DM Sans" pitchFamily="34" charset="-122"/>
                <a:cs typeface="DM Sans" pitchFamily="34" charset="-120"/>
              </a:rPr>
              <a:t>Fine-tuned, calibrated, probabilities averaged</a:t>
            </a:r>
            <a:endParaRPr lang="en-US" sz="1200" dirty="0"/>
          </a:p>
        </p:txBody>
      </p:sp>
      <p:pic>
        <p:nvPicPr>
          <p:cNvPr id="12" name="Image 1" descr="arrow-right">    </p:cNvPr>
          <p:cNvPicPr>
            <a:picLocks noChangeAspect="1"/>
          </p:cNvPicPr>
          <p:nvPr/>
        </p:nvPicPr>
        <p:blipFill>
          <a:blip r:embed="rId2"/>
          <a:srcRect l="0" r="0" t="0" b="0"/>
          <a:stretch/>
        </p:blipFill>
        <p:spPr>
          <a:xfrm>
            <a:off x="6172200" y="3183652"/>
            <a:ext cx="406400" cy="203200"/>
          </a:xfrm>
          <a:prstGeom prst="rect">
            <a:avLst/>
          </a:prstGeom>
        </p:spPr>
      </p:pic>
      <p:sp>
        <p:nvSpPr>
          <p:cNvPr id="13" name="Shape 9"/>
          <p:cNvSpPr/>
          <p:nvPr/>
        </p:nvSpPr>
        <p:spPr>
          <a:xfrm>
            <a:off x="6711950" y="2750582"/>
            <a:ext cx="1892300" cy="1069340"/>
          </a:xfrm>
          <a:prstGeom prst="roundRect">
            <a:avLst>
              <a:gd name="adj" fmla="val 11283"/>
            </a:avLst>
          </a:prstGeom>
          <a:solidFill>
            <a:srgbClr val="FBF6F0"/>
          </a:solidFill>
          <a:ln w="12700">
            <a:solidFill>
              <a:srgbClr val="E2CFBC"/>
            </a:solidFill>
            <a:prstDash val="solid"/>
          </a:ln>
        </p:spPr>
      </p:sp>
      <p:sp>
        <p:nvSpPr>
          <p:cNvPr id="14" name="Text 10"/>
          <p:cNvSpPr/>
          <p:nvPr/>
        </p:nvSpPr>
        <p:spPr>
          <a:xfrm>
            <a:off x="6893560" y="2932192"/>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611"/>
                </a:solidFill>
                <a:latin typeface="Syne" pitchFamily="18" charset="0"/>
                <a:ea typeface="Syne" pitchFamily="18" charset="-122"/>
                <a:cs typeface="Syne" pitchFamily="18" charset="-120"/>
              </a:rPr>
              <a:t>Confident?</a:t>
            </a:r>
            <a:endParaRPr lang="en-US" sz="1600" dirty="0"/>
          </a:p>
        </p:txBody>
      </p:sp>
      <p:sp>
        <p:nvSpPr>
          <p:cNvPr id="15" name="Text 11"/>
          <p:cNvSpPr/>
          <p:nvPr/>
        </p:nvSpPr>
        <p:spPr>
          <a:xfrm>
            <a:off x="6893560" y="3226832"/>
            <a:ext cx="15798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4D41"/>
                </a:solidFill>
                <a:latin typeface="DM Sans" pitchFamily="34" charset="0"/>
                <a:ea typeface="DM Sans" pitchFamily="34" charset="-122"/>
                <a:cs typeface="DM Sans" pitchFamily="34" charset="-120"/>
              </a:rPr>
              <a:t>Threshold set on validation</a:t>
            </a:r>
            <a:endParaRPr lang="en-US" sz="1200" dirty="0"/>
          </a:p>
        </p:txBody>
      </p:sp>
      <p:pic>
        <p:nvPicPr>
          <p:cNvPr id="16" name="Image 2" descr="arrow-right">    </p:cNvPr>
          <p:cNvPicPr>
            <a:picLocks noChangeAspect="1"/>
          </p:cNvPicPr>
          <p:nvPr/>
        </p:nvPicPr>
        <p:blipFill>
          <a:blip r:embed="rId3"/>
          <a:srcRect l="0" r="0" t="0" b="0"/>
          <a:stretch/>
        </p:blipFill>
        <p:spPr>
          <a:xfrm>
            <a:off x="8737600" y="3183652"/>
            <a:ext cx="406400" cy="203200"/>
          </a:xfrm>
          <a:prstGeom prst="rect">
            <a:avLst/>
          </a:prstGeom>
        </p:spPr>
      </p:pic>
      <p:sp>
        <p:nvSpPr>
          <p:cNvPr id="17" name="Text 12"/>
          <p:cNvSpPr/>
          <p:nvPr/>
        </p:nvSpPr>
        <p:spPr>
          <a:xfrm>
            <a:off x="9271000" y="2840752"/>
            <a:ext cx="2108200" cy="408940"/>
          </a:xfrm>
          <a:prstGeom prst="roundRect">
            <a:avLst>
              <a:gd name="adj" fmla="val 21739"/>
            </a:avLst>
          </a:prstGeom>
          <a:solidFill>
            <a:srgbClr val="F26A1B"/>
          </a:solidFill>
          <a:ln/>
        </p:spPr>
        <p:txBody>
          <a:bodyPr wrap="square" lIns="100962" tIns="62862" rIns="45336" bIns="37462"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Yes: auto-tag (~77%)</a:t>
            </a:r>
            <a:endParaRPr lang="en-US" sz="1300" dirty="0"/>
          </a:p>
        </p:txBody>
      </p:sp>
      <p:sp>
        <p:nvSpPr>
          <p:cNvPr id="18" name="Text 13"/>
          <p:cNvSpPr/>
          <p:nvPr/>
        </p:nvSpPr>
        <p:spPr>
          <a:xfrm>
            <a:off x="9277350" y="3332242"/>
            <a:ext cx="2095500" cy="391160"/>
          </a:xfrm>
          <a:prstGeom prst="roundRect">
            <a:avLst>
              <a:gd name="adj" fmla="val 21104"/>
            </a:avLst>
          </a:prstGeom>
          <a:solidFill>
            <a:srgbClr val="FBF6F0"/>
          </a:solidFill>
          <a:ln w="12700">
            <a:solidFill>
              <a:srgbClr val="1F1611"/>
            </a:solidFill>
            <a:prstDash val="solid"/>
          </a:ln>
        </p:spPr>
        <p:txBody>
          <a:bodyPr wrap="square" lIns="93932" tIns="55832" rIns="38154" bIns="30432"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No: to a lawyer (~23%)</a:t>
            </a:r>
            <a:endParaRPr lang="en-US" sz="1300" dirty="0"/>
          </a:p>
        </p:txBody>
      </p:sp>
      <p:sp>
        <p:nvSpPr>
          <p:cNvPr id="19" name="Text 14"/>
          <p:cNvSpPr/>
          <p:nvPr/>
        </p:nvSpPr>
        <p:spPr>
          <a:xfrm>
            <a:off x="812800" y="4266088"/>
            <a:ext cx="10883392" cy="229791"/>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8460F"/>
                </a:solidFill>
                <a:latin typeface="JetBrains Mono" pitchFamily="49" charset="0"/>
                <a:ea typeface="JetBrains Mono" pitchFamily="49" charset="-122"/>
                <a:cs typeface="JetBrains Mono" pitchFamily="49" charset="-120"/>
              </a:rPr>
              <a:t>RETRIEVE</a:t>
            </a:r>
            <a:endParaRPr lang="en-US" sz="1159" dirty="0"/>
          </a:p>
        </p:txBody>
      </p:sp>
      <p:sp>
        <p:nvSpPr>
          <p:cNvPr id="20" name="Shape 15"/>
          <p:cNvSpPr/>
          <p:nvPr/>
        </p:nvSpPr>
        <p:spPr>
          <a:xfrm>
            <a:off x="819150" y="4653280"/>
            <a:ext cx="1892300" cy="1107440"/>
          </a:xfrm>
          <a:prstGeom prst="roundRect">
            <a:avLst>
              <a:gd name="adj" fmla="val 10894"/>
            </a:avLst>
          </a:prstGeom>
          <a:solidFill>
            <a:srgbClr val="FBF6F0"/>
          </a:solidFill>
          <a:ln w="12700">
            <a:solidFill>
              <a:srgbClr val="E2CFBC"/>
            </a:solidFill>
            <a:prstDash val="solid"/>
          </a:ln>
        </p:spPr>
      </p:sp>
      <p:sp>
        <p:nvSpPr>
          <p:cNvPr id="21" name="Text 16"/>
          <p:cNvSpPr/>
          <p:nvPr/>
        </p:nvSpPr>
        <p:spPr>
          <a:xfrm>
            <a:off x="1000760" y="4834891"/>
            <a:ext cx="157988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611"/>
                </a:solidFill>
                <a:latin typeface="Syne" pitchFamily="18" charset="0"/>
                <a:ea typeface="Syne" pitchFamily="18" charset="-122"/>
                <a:cs typeface="Syne" pitchFamily="18" charset="-120"/>
              </a:rPr>
              <a:t>Clause or question</a:t>
            </a:r>
            <a:endParaRPr lang="en-US" sz="1600" dirty="0"/>
          </a:p>
        </p:txBody>
      </p:sp>
      <p:sp>
        <p:nvSpPr>
          <p:cNvPr id="22" name="Text 17"/>
          <p:cNvSpPr/>
          <p:nvPr/>
        </p:nvSpPr>
        <p:spPr>
          <a:xfrm>
            <a:off x="1000760" y="5373370"/>
            <a:ext cx="15798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4D41"/>
                </a:solidFill>
                <a:latin typeface="DM Sans" pitchFamily="34" charset="0"/>
                <a:ea typeface="DM Sans" pitchFamily="34" charset="-122"/>
                <a:cs typeface="DM Sans" pitchFamily="34" charset="-120"/>
              </a:rPr>
              <a:t>“30-day notice”</a:t>
            </a:r>
            <a:endParaRPr lang="en-US" sz="1200" dirty="0"/>
          </a:p>
        </p:txBody>
      </p:sp>
      <p:pic>
        <p:nvPicPr>
          <p:cNvPr id="23" name="Image 3" descr="arrow-right">    </p:cNvPr>
          <p:cNvPicPr>
            <a:picLocks noChangeAspect="1"/>
          </p:cNvPicPr>
          <p:nvPr/>
        </p:nvPicPr>
        <p:blipFill>
          <a:blip r:embed="rId4"/>
          <a:srcRect l="0" r="0" t="0" b="0"/>
          <a:stretch/>
        </p:blipFill>
        <p:spPr>
          <a:xfrm>
            <a:off x="2844800" y="5105400"/>
            <a:ext cx="406400" cy="203200"/>
          </a:xfrm>
          <a:prstGeom prst="rect">
            <a:avLst/>
          </a:prstGeom>
        </p:spPr>
      </p:pic>
      <p:sp>
        <p:nvSpPr>
          <p:cNvPr id="24" name="Shape 18"/>
          <p:cNvSpPr/>
          <p:nvPr/>
        </p:nvSpPr>
        <p:spPr>
          <a:xfrm>
            <a:off x="3378200" y="4657091"/>
            <a:ext cx="2667000" cy="1099820"/>
          </a:xfrm>
          <a:prstGeom prst="roundRect">
            <a:avLst>
              <a:gd name="adj" fmla="val 11547"/>
            </a:avLst>
          </a:prstGeom>
          <a:solidFill>
            <a:srgbClr val="1F1611"/>
          </a:solidFill>
          <a:ln/>
        </p:spPr>
      </p:sp>
      <p:sp>
        <p:nvSpPr>
          <p:cNvPr id="25" name="Text 19"/>
          <p:cNvSpPr/>
          <p:nvPr/>
        </p:nvSpPr>
        <p:spPr>
          <a:xfrm>
            <a:off x="3556000" y="4834891"/>
            <a:ext cx="2380742"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F0"/>
                </a:solidFill>
                <a:latin typeface="Syne" pitchFamily="18" charset="0"/>
                <a:ea typeface="Syne" pitchFamily="18" charset="-122"/>
                <a:cs typeface="Syne" pitchFamily="18" charset="-120"/>
              </a:rPr>
              <a:t>BM25 keyword search</a:t>
            </a:r>
            <a:endParaRPr lang="en-US" sz="1600" dirty="0"/>
          </a:p>
        </p:txBody>
      </p:sp>
      <p:sp>
        <p:nvSpPr>
          <p:cNvPr id="26" name="Text 20"/>
          <p:cNvSpPr/>
          <p:nvPr/>
        </p:nvSpPr>
        <p:spPr>
          <a:xfrm>
            <a:off x="3556000" y="5373370"/>
            <a:ext cx="238074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9DCCF"/>
                </a:solidFill>
                <a:latin typeface="DM Sans" pitchFamily="34" charset="0"/>
                <a:ea typeface="DM Sans" pitchFamily="34" charset="-122"/>
                <a:cs typeface="DM Sans" pitchFamily="34" charset="-120"/>
              </a:rPr>
              <a:t>Over the 60,000-clause bank</a:t>
            </a:r>
            <a:endParaRPr lang="en-US" sz="1200" dirty="0"/>
          </a:p>
        </p:txBody>
      </p:sp>
      <p:pic>
        <p:nvPicPr>
          <p:cNvPr id="27" name="Image 4" descr="arrow-right">    </p:cNvPr>
          <p:cNvPicPr>
            <a:picLocks noChangeAspect="1"/>
          </p:cNvPicPr>
          <p:nvPr/>
        </p:nvPicPr>
        <p:blipFill>
          <a:blip r:embed="rId5"/>
          <a:srcRect l="0" r="0" t="0" b="0"/>
          <a:stretch/>
        </p:blipFill>
        <p:spPr>
          <a:xfrm>
            <a:off x="6172200" y="5105400"/>
            <a:ext cx="406400" cy="203200"/>
          </a:xfrm>
          <a:prstGeom prst="rect">
            <a:avLst/>
          </a:prstGeom>
        </p:spPr>
      </p:pic>
      <p:sp>
        <p:nvSpPr>
          <p:cNvPr id="28" name="Shape 21"/>
          <p:cNvSpPr/>
          <p:nvPr/>
        </p:nvSpPr>
        <p:spPr>
          <a:xfrm>
            <a:off x="6711950" y="4550490"/>
            <a:ext cx="1892300" cy="1313180"/>
          </a:xfrm>
          <a:prstGeom prst="roundRect">
            <a:avLst>
              <a:gd name="adj" fmla="val 9188"/>
            </a:avLst>
          </a:prstGeom>
          <a:solidFill>
            <a:srgbClr val="FBF6F0"/>
          </a:solidFill>
          <a:ln w="12700">
            <a:solidFill>
              <a:srgbClr val="E2CFBC"/>
            </a:solidFill>
            <a:prstDash val="solid"/>
          </a:ln>
        </p:spPr>
      </p:sp>
      <p:sp>
        <p:nvSpPr>
          <p:cNvPr id="29" name="Text 22"/>
          <p:cNvSpPr/>
          <p:nvPr/>
        </p:nvSpPr>
        <p:spPr>
          <a:xfrm>
            <a:off x="6893560" y="4732100"/>
            <a:ext cx="157988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611"/>
                </a:solidFill>
                <a:latin typeface="Syne" pitchFamily="18" charset="0"/>
                <a:ea typeface="Syne" pitchFamily="18" charset="-122"/>
                <a:cs typeface="Syne" pitchFamily="18" charset="-120"/>
              </a:rPr>
              <a:t>Top 5 precedents</a:t>
            </a:r>
            <a:endParaRPr lang="en-US" sz="1600" dirty="0"/>
          </a:p>
        </p:txBody>
      </p:sp>
      <p:sp>
        <p:nvSpPr>
          <p:cNvPr id="30" name="Text 23"/>
          <p:cNvSpPr/>
          <p:nvPr/>
        </p:nvSpPr>
        <p:spPr>
          <a:xfrm>
            <a:off x="6893560" y="5270579"/>
            <a:ext cx="15798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4D41"/>
                </a:solidFill>
                <a:latin typeface="DM Sans" pitchFamily="34" charset="0"/>
                <a:ea typeface="DM Sans" pitchFamily="34" charset="-122"/>
                <a:cs typeface="DM Sans" pitchFamily="34" charset="-120"/>
              </a:rPr>
              <a:t>Each with its clause type</a:t>
            </a:r>
            <a:endParaRPr lang="en-US" sz="1200" dirty="0"/>
          </a:p>
        </p:txBody>
      </p:sp>
      <p:sp>
        <p:nvSpPr>
          <p:cNvPr id="31" name="Text 24"/>
          <p:cNvSpPr/>
          <p:nvPr/>
        </p:nvSpPr>
        <p:spPr>
          <a:xfrm>
            <a:off x="812800" y="6238239"/>
            <a:ext cx="37624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564"/>
                </a:solidFill>
                <a:latin typeface="DM Sans" pitchFamily="34" charset="0"/>
                <a:ea typeface="DM Sans" pitchFamily="34" charset="-122"/>
                <a:cs typeface="DM Sans" pitchFamily="34" charset="-120"/>
              </a:rPr>
              <a:t>src/train.py · src/evaluate.py · src/retrieval.py</a:t>
            </a:r>
            <a:endParaRPr lang="en-US" sz="1200" dirty="0"/>
          </a:p>
        </p:txBody>
      </p:sp>
      <p:sp>
        <p:nvSpPr>
          <p:cNvPr id="32" name="Text 25"/>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564"/>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29314"/>
          </a:xfrm>
          <a:prstGeom prst="rect">
            <a:avLst/>
          </a:prstGeom>
          <a:noFill/>
          <a:ln/>
        </p:spPr>
        <p:txBody>
          <a:bodyPr wrap="square" lIns="0" tIns="0" rIns="0" bIns="0" rtlCol="0" anchor="t">
            <a:normAutofit/>
          </a:bodyPr>
          <a:lstStyle/>
          <a:p>
            <a:pPr algn="l" indent="0" marL="0">
              <a:lnSpc>
                <a:spcPts val="1622"/>
              </a:lnSpc>
              <a:buNone/>
            </a:pPr>
            <a:r>
              <a:rPr lang="en-US" sz="1159" spc="200" kern="0" dirty="0">
                <a:solidFill>
                  <a:srgbClr val="B8460F"/>
                </a:solidFill>
                <a:latin typeface="JetBrains Mono" pitchFamily="49" charset="0"/>
                <a:ea typeface="JetBrains Mono" pitchFamily="49" charset="-122"/>
                <a:cs typeface="JetBrains Mono" pitchFamily="49" charset="-120"/>
              </a:rPr>
              <a:t>CLASSIFICATION · TEST SET, 10,000 CLAUSES</a:t>
            </a:r>
            <a:endParaRPr lang="en-US" sz="1159" dirty="0"/>
          </a:p>
        </p:txBody>
      </p:sp>
      <p:sp>
        <p:nvSpPr>
          <p:cNvPr id="3" name="Text 1"/>
          <p:cNvSpPr/>
          <p:nvPr>
            <p:ph type="title"/>
          </p:nvPr>
        </p:nvSpPr>
        <p:spPr>
          <a:xfrm>
            <a:off x="812800" y="1143716"/>
            <a:ext cx="10464800" cy="1306989"/>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1F1611"/>
                </a:solidFill>
                <a:latin typeface="Syne" pitchFamily="18" charset="0"/>
                <a:ea typeface="Syne" pitchFamily="18" charset="-122"/>
                <a:cs typeface="Syne" pitchFamily="18" charset="-120"/>
              </a:rPr>
              <a:t>Legal-BERT alone is more accurate, not better across types</a:t>
            </a:r>
            <a:endParaRPr lang="en-US" sz="30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689463"/>
          <a:ext cx="10556240" cy="1838960"/>
        </p:xfrm>
        <a:graphic>
          <a:graphicData uri="http://schemas.openxmlformats.org/drawingml/2006/table">
            <a:tbl>
              <a:tblPr/>
              <a:tblGrid>
                <a:gridCol w="3589122"/>
                <a:gridCol w="1583436"/>
                <a:gridCol w="1583436"/>
                <a:gridCol w="1266749"/>
                <a:gridCol w="2533498"/>
              </a:tblGrid>
              <a:tr h="367744">
                <a:tc>
                  <a:txBody>
                    <a:bodyPr/>
                    <a:lstStyle/>
                    <a:p>
                      <a:pPr indent="0" marL="0">
                        <a:lnSpc>
                          <a:spcPts val="1874"/>
                        </a:lnSpc>
                        <a:buNone/>
                      </a:pPr>
                      <a:r>
                        <a:rPr lang="en-US" sz="1339" b="1" dirty="0">
                          <a:solidFill>
                            <a:srgbClr val="5E4D41"/>
                          </a:solidFill>
                          <a:latin typeface="DM Sans" pitchFamily="34" charset="0"/>
                          <a:ea typeface="DM Sans" pitchFamily="34" charset="-122"/>
                          <a:cs typeface="DM Sans" pitchFamily="34" charset="-120"/>
                        </a:rPr>
                        <a:t>Model</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algn="r" indent="0" marL="0">
                        <a:lnSpc>
                          <a:spcPts val="1874"/>
                        </a:lnSpc>
                        <a:buNone/>
                      </a:pPr>
                      <a:r>
                        <a:rPr lang="en-US" sz="1339" b="1" dirty="0">
                          <a:solidFill>
                            <a:srgbClr val="5E4D41"/>
                          </a:solidFill>
                          <a:latin typeface="DM Sans" pitchFamily="34" charset="0"/>
                          <a:ea typeface="DM Sans" pitchFamily="34" charset="-122"/>
                          <a:cs typeface="DM Sans" pitchFamily="34" charset="-120"/>
                        </a:rPr>
                        <a:t>Accuracy</a:t>
                      </a:r>
                      <a:endParaRPr lang="en-US" sz="1339" dirty="0">
                        <a:latin typeface="DM Sans" charset="0"/>
                        <a:ea typeface="DM Sans" charset="0"/>
                        <a:cs typeface="DM Sans" charset="0"/>
                      </a:endParaRPr>
                    </a:p>
                  </a:txBody>
                  <a:tcPr marL="59507" marR="59507" marT="59507" marB="59507"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algn="r" indent="0" marL="0">
                        <a:lnSpc>
                          <a:spcPts val="1874"/>
                        </a:lnSpc>
                        <a:buNone/>
                      </a:pPr>
                      <a:r>
                        <a:rPr lang="en-US" sz="1339" b="1" dirty="0">
                          <a:solidFill>
                            <a:srgbClr val="5E4D41"/>
                          </a:solidFill>
                          <a:latin typeface="DM Sans" pitchFamily="34" charset="0"/>
                          <a:ea typeface="DM Sans" pitchFamily="34" charset="-122"/>
                          <a:cs typeface="DM Sans" pitchFamily="34" charset="-120"/>
                        </a:rPr>
                        <a:t>Macro-F1</a:t>
                      </a:r>
                      <a:endParaRPr lang="en-US" sz="1339" dirty="0">
                        <a:latin typeface="DM Sans" charset="0"/>
                        <a:ea typeface="DM Sans" charset="0"/>
                        <a:cs typeface="DM Sans" charset="0"/>
                      </a:endParaRPr>
                    </a:p>
                  </a:txBody>
                  <a:tcPr marL="59507" marR="59507" marT="59507" marB="59507"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algn="r" indent="0" marL="0">
                        <a:lnSpc>
                          <a:spcPts val="1874"/>
                        </a:lnSpc>
                        <a:buNone/>
                      </a:pPr>
                      <a:r>
                        <a:rPr lang="en-US" sz="1339" b="1" dirty="0">
                          <a:solidFill>
                            <a:srgbClr val="5E4D41"/>
                          </a:solidFill>
                          <a:latin typeface="DM Sans" pitchFamily="34" charset="0"/>
                          <a:ea typeface="DM Sans" pitchFamily="34" charset="-122"/>
                          <a:cs typeface="DM Sans" pitchFamily="34" charset="-120"/>
                        </a:rPr>
                        <a:t>ECE</a:t>
                      </a:r>
                      <a:endParaRPr lang="en-US" sz="1339" dirty="0">
                        <a:latin typeface="DM Sans" charset="0"/>
                        <a:ea typeface="DM Sans" charset="0"/>
                        <a:cs typeface="DM Sans" charset="0"/>
                      </a:endParaRPr>
                    </a:p>
                  </a:txBody>
                  <a:tcPr marL="59507" marR="59507" marT="59507" marB="59507"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algn="r" indent="0" marL="0">
                        <a:lnSpc>
                          <a:spcPts val="1874"/>
                        </a:lnSpc>
                        <a:buNone/>
                      </a:pPr>
                      <a:r>
                        <a:rPr lang="en-US" sz="1339" b="1" dirty="0">
                          <a:solidFill>
                            <a:srgbClr val="5E4D41"/>
                          </a:solidFill>
                          <a:latin typeface="DM Sans" pitchFamily="34" charset="0"/>
                          <a:ea typeface="DM Sans" pitchFamily="34" charset="-122"/>
                          <a:cs typeface="DM Sans" pitchFamily="34" charset="-120"/>
                        </a:rPr>
                        <a:t>Training cost</a:t>
                      </a:r>
                      <a:endParaRPr lang="en-US" sz="1339" dirty="0">
                        <a:latin typeface="DM Sans" charset="0"/>
                        <a:ea typeface="DM Sans" charset="0"/>
                        <a:cs typeface="DM Sans" charset="0"/>
                      </a:endParaRPr>
                    </a:p>
                  </a:txBody>
                  <a:tcPr marL="59507" marR="59507" marT="59507" marB="59507"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r>
              <a:tr h="367744">
                <a:tc>
                  <a:txBody>
                    <a:bodyPr/>
                    <a:lstStyle/>
                    <a:p>
                      <a:pPr indent="0" marL="0">
                        <a:lnSpc>
                          <a:spcPts val="1874"/>
                        </a:lnSpc>
                        <a:buNone/>
                      </a:pPr>
                      <a:r>
                        <a:rPr lang="en-US" sz="1339" dirty="0">
                          <a:solidFill>
                            <a:srgbClr val="5E4D41"/>
                          </a:solidFill>
                          <a:latin typeface="DM Sans" pitchFamily="34" charset="0"/>
                          <a:ea typeface="DM Sans" pitchFamily="34" charset="-122"/>
                          <a:cs typeface="DM Sans" pitchFamily="34" charset="-120"/>
                        </a:rPr>
                        <a:t>Always “Governing Laws”</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5E4D41"/>
                          </a:solidFill>
                          <a:latin typeface="DM Sans" pitchFamily="34" charset="0"/>
                          <a:ea typeface="DM Sans" pitchFamily="34" charset="-122"/>
                          <a:cs typeface="DM Sans" pitchFamily="34" charset="-120"/>
                        </a:rPr>
                        <a:t>0.058</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5E4D41"/>
                          </a:solidFill>
                          <a:latin typeface="DM Sans" pitchFamily="34" charset="0"/>
                          <a:ea typeface="DM Sans" pitchFamily="34" charset="-122"/>
                          <a:cs typeface="DM Sans" pitchFamily="34" charset="-120"/>
                        </a:rPr>
                        <a:t>0.001</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5E4D41"/>
                          </a:solidFill>
                          <a:latin typeface="DM Sans" pitchFamily="34" charset="0"/>
                          <a:ea typeface="DM Sans" pitchFamily="34" charset="-122"/>
                          <a:cs typeface="DM Sans" pitchFamily="34" charset="-120"/>
                        </a:rPr>
                        <a:t>–</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5E4D41"/>
                          </a:solidFill>
                          <a:latin typeface="DM Sans" pitchFamily="34" charset="0"/>
                          <a:ea typeface="DM Sans" pitchFamily="34" charset="-122"/>
                          <a:cs typeface="DM Sans" pitchFamily="34" charset="-120"/>
                        </a:rPr>
                        <a:t>none</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67824">
                <a:tc>
                  <a:txBody>
                    <a:bodyPr/>
                    <a:lstStyle/>
                    <a:p>
                      <a:pPr indent="0" marL="0">
                        <a:lnSpc>
                          <a:spcPts val="1874"/>
                        </a:lnSpc>
                        <a:buNone/>
                      </a:pPr>
                      <a:r>
                        <a:rPr lang="en-US" sz="1339" dirty="0">
                          <a:solidFill>
                            <a:srgbClr val="1F1611"/>
                          </a:solidFill>
                          <a:latin typeface="DM Sans" pitchFamily="34" charset="0"/>
                          <a:ea typeface="DM Sans" pitchFamily="34" charset="-122"/>
                          <a:cs typeface="DM Sans" pitchFamily="34" charset="-120"/>
                        </a:rPr>
                        <a:t>TF-IDF + logistic regression</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0.878</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0.827</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0.020</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12 min, laptop CPU</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67824">
                <a:tc>
                  <a:txBody>
                    <a:bodyPr/>
                    <a:lstStyle/>
                    <a:p>
                      <a:pPr indent="0" marL="0">
                        <a:lnSpc>
                          <a:spcPts val="1874"/>
                        </a:lnSpc>
                        <a:buNone/>
                      </a:pPr>
                      <a:r>
                        <a:rPr lang="en-US" sz="1339" dirty="0">
                          <a:solidFill>
                            <a:srgbClr val="1F1611"/>
                          </a:solidFill>
                          <a:latin typeface="DM Sans" pitchFamily="34" charset="0"/>
                          <a:ea typeface="DM Sans" pitchFamily="34" charset="-122"/>
                          <a:cs typeface="DM Sans" pitchFamily="34" charset="-120"/>
                        </a:rPr>
                        <a:t>Legal-BERT, 6 runs (mean ± std)</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0.885 ± 0.002</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0.827 ± 0.003</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0.083</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2 h per run, T4 GPU</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67824">
                <a:tc>
                  <a:txBody>
                    <a:bodyPr/>
                    <a:lstStyle/>
                    <a:p>
                      <a:pPr indent="0" marL="0">
                        <a:lnSpc>
                          <a:spcPts val="1874"/>
                        </a:lnSpc>
                        <a:buNone/>
                      </a:pPr>
                      <a:r>
                        <a:rPr lang="en-US" sz="1339" dirty="0">
                          <a:solidFill>
                            <a:srgbClr val="1F1611"/>
                          </a:solidFill>
                          <a:latin typeface="DM Sans" pitchFamily="34" charset="0"/>
                          <a:ea typeface="DM Sans" pitchFamily="34" charset="-122"/>
                          <a:cs typeface="DM Sans" pitchFamily="34" charset="-120"/>
                        </a:rPr>
                        <a:t>Ensemble (seeds 1 / 2)</a:t>
                      </a:r>
                      <a:endParaRPr lang="en-US" sz="1339" dirty="0">
                        <a:latin typeface="DM Sans" charset="0"/>
                        <a:ea typeface="DM Sans" charset="0"/>
                        <a:cs typeface="DM Sans" charset="0"/>
                      </a:endParaRPr>
                    </a:p>
                  </a:txBody>
                  <a:tcPr marL="59507" marR="59507" marT="59507" marB="59507" anchor="t">
                    <a:lnL w="12700" cap="flat" cmpd="sng" algn="ctr">
                      <a:solidFill>
                        <a:srgbClr val="C8C4BF"/>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0.895 / 0.891</a:t>
                      </a:r>
                      <a:endParaRPr lang="en-US" sz="1339" dirty="0">
                        <a:latin typeface="DM Sans" charset="0"/>
                        <a:ea typeface="DM Sans" charset="0"/>
                        <a:cs typeface="DM Sans" charset="0"/>
                      </a:endParaRPr>
                    </a:p>
                  </a:txBody>
                  <a:tcPr marL="59507" marR="59507" marT="59507" marB="59507" anchor="t">
                    <a:lnL w="12700" cap="flat" cmpd="sng" algn="ctr">
                      <a:solidFill>
                        <a:srgbClr val="CBB5A6"/>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0.844 / 0.836</a:t>
                      </a:r>
                      <a:endParaRPr lang="en-US" sz="1339" dirty="0">
                        <a:latin typeface="DM Sans" charset="0"/>
                        <a:ea typeface="DM Sans" charset="0"/>
                        <a:cs typeface="DM Sans" charset="0"/>
                      </a:endParaRPr>
                    </a:p>
                  </a:txBody>
                  <a:tcPr marL="59507" marR="59507" marT="59507" marB="59507" anchor="t">
                    <a:lnL w="12700" cap="flat" cmpd="sng" algn="ctr">
                      <a:solidFill>
                        <a:srgbClr val="CBB5A6"/>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0.017 / 0.013</a:t>
                      </a:r>
                      <a:endParaRPr lang="en-US" sz="1339" dirty="0">
                        <a:latin typeface="DM Sans" charset="0"/>
                        <a:ea typeface="DM Sans" charset="0"/>
                        <a:cs typeface="DM Sans" charset="0"/>
                      </a:endParaRPr>
                    </a:p>
                  </a:txBody>
                  <a:tcPr marL="59507" marR="59507" marT="59507" marB="59507" anchor="t">
                    <a:lnL w="12700" cap="flat" cmpd="sng" algn="ctr">
                      <a:solidFill>
                        <a:srgbClr val="CBB5A6"/>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c>
                  <a:txBody>
                    <a:bodyPr/>
                    <a:lstStyle/>
                    <a:p>
                      <a:pPr algn="r" indent="0" marL="0">
                        <a:lnSpc>
                          <a:spcPts val="1874"/>
                        </a:lnSpc>
                        <a:buNone/>
                      </a:pPr>
                      <a:r>
                        <a:rPr lang="en-US" sz="1339" dirty="0">
                          <a:solidFill>
                            <a:srgbClr val="1F1611"/>
                          </a:solidFill>
                          <a:latin typeface="DM Sans" pitchFamily="34" charset="0"/>
                          <a:ea typeface="DM Sans" pitchFamily="34" charset="-122"/>
                          <a:cs typeface="DM Sans" pitchFamily="34" charset="-120"/>
                        </a:rPr>
                        <a:t>nothing extra</a:t>
                      </a:r>
                      <a:endParaRPr lang="en-US" sz="1339" dirty="0">
                        <a:latin typeface="DM Sans" charset="0"/>
                        <a:ea typeface="DM Sans" charset="0"/>
                        <a:cs typeface="DM Sans" charset="0"/>
                      </a:endParaRPr>
                    </a:p>
                  </a:txBody>
                  <a:tcPr marL="59507" marR="59507" marT="59507" marB="59507" anchor="t">
                    <a:lnL w="12700" cap="flat" cmpd="sng" algn="ctr">
                      <a:solidFill>
                        <a:srgbClr val="CBB5A6"/>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r>
            </a:tbl>
          </a:graphicData>
        </a:graphic>
      </p:graphicFrame>
      <p:sp>
        <p:nvSpPr>
          <p:cNvPr id="5" name="Shape 2"/>
          <p:cNvSpPr/>
          <p:nvPr/>
        </p:nvSpPr>
        <p:spPr>
          <a:xfrm>
            <a:off x="812800" y="4801474"/>
            <a:ext cx="3403600" cy="0"/>
          </a:xfrm>
          <a:prstGeom prst="line">
            <a:avLst/>
          </a:prstGeom>
          <a:noFill/>
          <a:ln w="38100">
            <a:solidFill>
              <a:srgbClr val="F26A1B"/>
            </a:solidFill>
            <a:prstDash val="solid"/>
          </a:ln>
        </p:spPr>
      </p:sp>
      <p:sp>
        <p:nvSpPr>
          <p:cNvPr id="6" name="Text 3"/>
          <p:cNvSpPr/>
          <p:nvPr/>
        </p:nvSpPr>
        <p:spPr>
          <a:xfrm>
            <a:off x="812800" y="4970385"/>
            <a:ext cx="3505708" cy="395764"/>
          </a:xfrm>
          <a:prstGeom prst="rect">
            <a:avLst/>
          </a:prstGeom>
          <a:noFill/>
          <a:ln/>
        </p:spPr>
        <p:txBody>
          <a:bodyPr wrap="square" lIns="0" tIns="0" rIns="0" bIns="0" rtlCol="0" anchor="t">
            <a:normAutofit/>
          </a:bodyPr>
          <a:lstStyle/>
          <a:p>
            <a:pPr algn="l" indent="0" marL="0">
              <a:lnSpc>
                <a:spcPts val="2916"/>
              </a:lnSpc>
              <a:buNone/>
            </a:pPr>
            <a:r>
              <a:rPr lang="en-US" sz="2083" b="1" dirty="0">
                <a:solidFill>
                  <a:srgbClr val="B8460F"/>
                </a:solidFill>
                <a:latin typeface="Syne" pitchFamily="18" charset="0"/>
                <a:ea typeface="Syne" pitchFamily="18" charset="-122"/>
                <a:cs typeface="Syne" pitchFamily="18" charset="-120"/>
              </a:rPr>
              <a:t>+0.7 pt</a:t>
            </a:r>
            <a:endParaRPr lang="en-US" sz="2083" dirty="0"/>
          </a:p>
        </p:txBody>
      </p:sp>
      <p:sp>
        <p:nvSpPr>
          <p:cNvPr id="7" name="Text 4"/>
          <p:cNvSpPr/>
          <p:nvPr/>
        </p:nvSpPr>
        <p:spPr>
          <a:xfrm>
            <a:off x="812800" y="5404247"/>
            <a:ext cx="3505708" cy="463153"/>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5E4D41"/>
                </a:solidFill>
                <a:latin typeface="DM Sans" pitchFamily="34" charset="0"/>
                <a:ea typeface="DM Sans" pitchFamily="34" charset="-122"/>
                <a:cs typeface="DM Sans" pitchFamily="34" charset="-120"/>
              </a:rPr>
              <a:t>accuracy for Legal-BERT, in all six runs (McNemar p = 0.012)</a:t>
            </a:r>
            <a:endParaRPr lang="en-US" sz="1239" dirty="0"/>
          </a:p>
        </p:txBody>
      </p:sp>
      <p:sp>
        <p:nvSpPr>
          <p:cNvPr id="8" name="Shape 5"/>
          <p:cNvSpPr/>
          <p:nvPr/>
        </p:nvSpPr>
        <p:spPr>
          <a:xfrm>
            <a:off x="4394200" y="4801474"/>
            <a:ext cx="3403600" cy="0"/>
          </a:xfrm>
          <a:prstGeom prst="line">
            <a:avLst/>
          </a:prstGeom>
          <a:noFill/>
          <a:ln w="38100">
            <a:solidFill>
              <a:srgbClr val="1F1611"/>
            </a:solidFill>
            <a:prstDash val="solid"/>
          </a:ln>
        </p:spPr>
      </p:sp>
      <p:sp>
        <p:nvSpPr>
          <p:cNvPr id="9" name="Text 6"/>
          <p:cNvSpPr/>
          <p:nvPr/>
        </p:nvSpPr>
        <p:spPr>
          <a:xfrm>
            <a:off x="4394200" y="4970385"/>
            <a:ext cx="3505708" cy="395764"/>
          </a:xfrm>
          <a:prstGeom prst="rect">
            <a:avLst/>
          </a:prstGeom>
          <a:noFill/>
          <a:ln/>
        </p:spPr>
        <p:txBody>
          <a:bodyPr wrap="square" lIns="0" tIns="0" rIns="0" bIns="0" rtlCol="0" anchor="t">
            <a:normAutofit/>
          </a:bodyPr>
          <a:lstStyle/>
          <a:p>
            <a:pPr algn="l" indent="0" marL="0">
              <a:lnSpc>
                <a:spcPts val="2916"/>
              </a:lnSpc>
              <a:buNone/>
            </a:pPr>
            <a:r>
              <a:rPr lang="en-US" sz="2083" b="1" dirty="0">
                <a:solidFill>
                  <a:srgbClr val="1F1611"/>
                </a:solidFill>
                <a:latin typeface="Syne" pitchFamily="18" charset="0"/>
                <a:ea typeface="Syne" pitchFamily="18" charset="-122"/>
                <a:cs typeface="Syne" pitchFamily="18" charset="-120"/>
              </a:rPr>
              <a:t>±0.0 pt</a:t>
            </a:r>
            <a:endParaRPr lang="en-US" sz="2083" dirty="0"/>
          </a:p>
        </p:txBody>
      </p:sp>
      <p:sp>
        <p:nvSpPr>
          <p:cNvPr id="10" name="Text 7"/>
          <p:cNvSpPr/>
          <p:nvPr/>
        </p:nvSpPr>
        <p:spPr>
          <a:xfrm>
            <a:off x="4394200" y="5404247"/>
            <a:ext cx="3505708" cy="463153"/>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5E4D41"/>
                </a:solidFill>
                <a:latin typeface="DM Sans" pitchFamily="34" charset="0"/>
                <a:ea typeface="DM Sans" pitchFamily="34" charset="-122"/>
                <a:cs typeface="DM Sans" pitchFamily="34" charset="-120"/>
              </a:rPr>
              <a:t>macro-F1 for Legal-BERT alone: the six-run mean equals the baseline</a:t>
            </a:r>
            <a:endParaRPr lang="en-US" sz="1239" dirty="0"/>
          </a:p>
        </p:txBody>
      </p:sp>
      <p:sp>
        <p:nvSpPr>
          <p:cNvPr id="11" name="Shape 8"/>
          <p:cNvSpPr/>
          <p:nvPr/>
        </p:nvSpPr>
        <p:spPr>
          <a:xfrm>
            <a:off x="7975600" y="4801474"/>
            <a:ext cx="3403600" cy="0"/>
          </a:xfrm>
          <a:prstGeom prst="line">
            <a:avLst/>
          </a:prstGeom>
          <a:noFill/>
          <a:ln w="38100">
            <a:solidFill>
              <a:srgbClr val="F26A1B"/>
            </a:solidFill>
            <a:prstDash val="solid"/>
          </a:ln>
        </p:spPr>
      </p:sp>
      <p:sp>
        <p:nvSpPr>
          <p:cNvPr id="12" name="Text 9"/>
          <p:cNvSpPr/>
          <p:nvPr/>
        </p:nvSpPr>
        <p:spPr>
          <a:xfrm>
            <a:off x="7975600" y="4970385"/>
            <a:ext cx="3505708" cy="395764"/>
          </a:xfrm>
          <a:prstGeom prst="rect">
            <a:avLst/>
          </a:prstGeom>
          <a:noFill/>
          <a:ln/>
        </p:spPr>
        <p:txBody>
          <a:bodyPr wrap="square" lIns="0" tIns="0" rIns="0" bIns="0" rtlCol="0" anchor="t">
            <a:normAutofit/>
          </a:bodyPr>
          <a:lstStyle/>
          <a:p>
            <a:pPr algn="l" indent="0" marL="0">
              <a:lnSpc>
                <a:spcPts val="2916"/>
              </a:lnSpc>
              <a:buNone/>
            </a:pPr>
            <a:r>
              <a:rPr lang="en-US" sz="2083" b="1" dirty="0">
                <a:solidFill>
                  <a:srgbClr val="B8460F"/>
                </a:solidFill>
                <a:latin typeface="Syne" pitchFamily="18" charset="0"/>
                <a:ea typeface="Syne" pitchFamily="18" charset="-122"/>
                <a:cs typeface="Syne" pitchFamily="18" charset="-120"/>
              </a:rPr>
              <a:t>+1.2 pt</a:t>
            </a:r>
            <a:endParaRPr lang="en-US" sz="2083" dirty="0"/>
          </a:p>
        </p:txBody>
      </p:sp>
      <p:sp>
        <p:nvSpPr>
          <p:cNvPr id="13" name="Text 10"/>
          <p:cNvSpPr/>
          <p:nvPr/>
        </p:nvSpPr>
        <p:spPr>
          <a:xfrm>
            <a:off x="7975600" y="5404247"/>
            <a:ext cx="3505708" cy="463153"/>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5E4D41"/>
                </a:solidFill>
                <a:latin typeface="DM Sans" pitchFamily="34" charset="0"/>
                <a:ea typeface="DM Sans" pitchFamily="34" charset="-122"/>
                <a:cs typeface="DM Sans" pitchFamily="34" charset="-120"/>
              </a:rPr>
              <a:t>macro-F1 for the ensemble over Legal-BERT: significant, and confirmed on validation</a:t>
            </a:r>
            <a:endParaRPr lang="en-US" sz="1239" dirty="0"/>
          </a:p>
        </p:txBody>
      </p:sp>
      <p:sp>
        <p:nvSpPr>
          <p:cNvPr id="14" name="Text 11"/>
          <p:cNvSpPr/>
          <p:nvPr/>
        </p:nvSpPr>
        <p:spPr>
          <a:xfrm>
            <a:off x="812800" y="6238239"/>
            <a:ext cx="49562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564"/>
                </a:solidFill>
                <a:latin typeface="DM Sans" pitchFamily="34" charset="0"/>
                <a:ea typeface="DM Sans" pitchFamily="34" charset="-122"/>
                <a:cs typeface="DM Sans" pitchFamily="34" charset="-120"/>
              </a:rPr>
              <a:t>README · results/EXPERIMENTS.md · results/ensemble.json</a:t>
            </a:r>
            <a:endParaRPr lang="en-US" sz="1200" dirty="0"/>
          </a:p>
        </p:txBody>
      </p:sp>
      <p:sp>
        <p:nvSpPr>
          <p:cNvPr id="15" name="Text 12"/>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564"/>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22250"/>
          </a:xfrm>
          <a:prstGeom prst="rect">
            <a:avLst/>
          </a:prstGeom>
          <a:noFill/>
          <a:ln/>
        </p:spPr>
        <p:txBody>
          <a:bodyPr wrap="square" lIns="0" tIns="0" rIns="0" bIns="0" rtlCol="0" anchor="t">
            <a:normAutofit/>
          </a:bodyPr>
          <a:lstStyle/>
          <a:p>
            <a:pPr algn="l" indent="0" marL="0">
              <a:lnSpc>
                <a:spcPts val="1570"/>
              </a:lnSpc>
              <a:buNone/>
            </a:pPr>
            <a:r>
              <a:rPr lang="en-US" sz="1121" spc="200" kern="0" dirty="0">
                <a:solidFill>
                  <a:srgbClr val="B8460F"/>
                </a:solidFill>
                <a:latin typeface="JetBrains Mono" pitchFamily="49" charset="0"/>
                <a:ea typeface="JetBrains Mono" pitchFamily="49" charset="-122"/>
                <a:cs typeface="JetBrains Mono" pitchFamily="49" charset="-120"/>
              </a:rPr>
              <a:t>PER CLAUSE TYPE · LEGAL-BERT VS TF-IDF</a:t>
            </a:r>
            <a:endParaRPr lang="en-US" sz="1121" dirty="0"/>
          </a:p>
        </p:txBody>
      </p:sp>
      <p:sp>
        <p:nvSpPr>
          <p:cNvPr id="3" name="Text 1"/>
          <p:cNvSpPr/>
          <p:nvPr>
            <p:ph type="title"/>
          </p:nvPr>
        </p:nvSpPr>
        <p:spPr>
          <a:xfrm>
            <a:off x="812800" y="1136650"/>
            <a:ext cx="10464800" cy="1262618"/>
          </a:xfrm>
          <a:prstGeom prst="rect">
            <a:avLst/>
          </a:prstGeom>
          <a:noFill/>
          <a:ln/>
        </p:spPr>
        <p:txBody>
          <a:bodyPr wrap="square" lIns="0" tIns="0" rIns="0" bIns="0" rtlCol="0" anchor="t">
            <a:normAutofit/>
          </a:bodyPr>
          <a:lstStyle/>
          <a:p>
            <a:pPr algn="l" indent="0" marL="0">
              <a:lnSpc>
                <a:spcPts val="3355"/>
              </a:lnSpc>
              <a:buNone/>
            </a:pPr>
            <a:r>
              <a:rPr lang="en-US" sz="3050" b="1" i="0" dirty="0">
                <a:solidFill>
                  <a:srgbClr val="1F1611"/>
                </a:solidFill>
                <a:latin typeface="Syne" pitchFamily="18" charset="0"/>
                <a:ea typeface="Syne" pitchFamily="18" charset="-122"/>
                <a:cs typeface="Syne" pitchFamily="18" charset="-120"/>
              </a:rPr>
              <a:t>Gains come from frequent types; errors from near-synonym labels</a:t>
            </a:r>
            <a:endParaRPr lang="en-US" sz="3050" dirty="0"/>
          </a:p>
        </p:txBody>
      </p:sp>
      <p:sp>
        <p:nvSpPr>
          <p:cNvPr id="4" name="Text 2"/>
          <p:cNvSpPr/>
          <p:nvPr/>
        </p:nvSpPr>
        <p:spPr>
          <a:xfrm>
            <a:off x="812800" y="2627868"/>
            <a:ext cx="405511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4D41"/>
                </a:solidFill>
                <a:latin typeface="DM Sans" pitchFamily="34" charset="0"/>
                <a:ea typeface="DM Sans" pitchFamily="34" charset="-122"/>
                <a:cs typeface="DM Sans" pitchFamily="34" charset="-120"/>
              </a:rPr>
              <a:t>Macro-F1 change, by how common the type is</a:t>
            </a:r>
            <a:endParaRPr lang="en-US" sz="1300" dirty="0"/>
          </a:p>
        </p:txBody>
      </p:sp>
      <p:sp>
        <p:nvSpPr>
          <p:cNvPr id="5" name="Shape 3"/>
          <p:cNvSpPr/>
          <p:nvPr/>
        </p:nvSpPr>
        <p:spPr>
          <a:xfrm>
            <a:off x="819150" y="3043160"/>
            <a:ext cx="3924300" cy="810260"/>
          </a:xfrm>
          <a:prstGeom prst="roundRect">
            <a:avLst>
              <a:gd name="adj" fmla="val 14890"/>
            </a:avLst>
          </a:prstGeom>
          <a:solidFill>
            <a:srgbClr val="FFFFFF"/>
          </a:solidFill>
          <a:ln w="12700">
            <a:solidFill>
              <a:srgbClr val="EADBCB"/>
            </a:solidFill>
            <a:prstDash val="solid"/>
          </a:ln>
        </p:spPr>
      </p:sp>
      <p:sp>
        <p:nvSpPr>
          <p:cNvPr id="6" name="Text 4"/>
          <p:cNvSpPr/>
          <p:nvPr/>
        </p:nvSpPr>
        <p:spPr>
          <a:xfrm>
            <a:off x="1026160" y="3199368"/>
            <a:ext cx="14478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8460F"/>
                </a:solidFill>
                <a:latin typeface="Syne" pitchFamily="18" charset="0"/>
                <a:ea typeface="Syne" pitchFamily="18" charset="-122"/>
                <a:cs typeface="Syne" pitchFamily="18" charset="-120"/>
              </a:rPr>
              <a:t>+1.3</a:t>
            </a:r>
            <a:endParaRPr lang="en-US" sz="2800" dirty="0"/>
          </a:p>
        </p:txBody>
      </p:sp>
      <p:sp>
        <p:nvSpPr>
          <p:cNvPr id="7" name="Text 5"/>
          <p:cNvSpPr/>
          <p:nvPr/>
        </p:nvSpPr>
        <p:spPr>
          <a:xfrm>
            <a:off x="2575560" y="3217149"/>
            <a:ext cx="1627902"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1611"/>
                </a:solidFill>
                <a:latin typeface="DM Sans" pitchFamily="34" charset="0"/>
                <a:ea typeface="DM Sans" pitchFamily="34" charset="-122"/>
                <a:cs typeface="DM Sans" pitchFamily="34" charset="-120"/>
              </a:rPr>
              <a:t>20 frequent types</a:t>
            </a:r>
            <a:endParaRPr lang="en-US" sz="1400" dirty="0"/>
          </a:p>
          <a:p>
            <a:pPr algn="l" indent="0" marL="0">
              <a:lnSpc>
                <a:spcPts val="1820"/>
              </a:lnSpc>
              <a:buNone/>
            </a:pPr>
            <a:r>
              <a:rPr lang="en-US" sz="1400" dirty="0">
                <a:solidFill>
                  <a:srgbClr val="5E4D41"/>
                </a:solidFill>
                <a:latin typeface="DM Sans" pitchFamily="34" charset="0"/>
                <a:ea typeface="DM Sans" pitchFamily="34" charset="-122"/>
                <a:cs typeface="DM Sans" pitchFamily="34" charset="-120"/>
              </a:rPr>
              <a:t>0.900 → 0.912</a:t>
            </a:r>
            <a:endParaRPr lang="en-US" sz="1400" dirty="0"/>
          </a:p>
        </p:txBody>
      </p:sp>
      <p:sp>
        <p:nvSpPr>
          <p:cNvPr id="8" name="Shape 6"/>
          <p:cNvSpPr/>
          <p:nvPr/>
        </p:nvSpPr>
        <p:spPr>
          <a:xfrm>
            <a:off x="819150" y="4043918"/>
            <a:ext cx="3924300" cy="810260"/>
          </a:xfrm>
          <a:prstGeom prst="roundRect">
            <a:avLst>
              <a:gd name="adj" fmla="val 14890"/>
            </a:avLst>
          </a:prstGeom>
          <a:solidFill>
            <a:srgbClr val="FFFFFF"/>
          </a:solidFill>
          <a:ln w="12700">
            <a:solidFill>
              <a:srgbClr val="EADBCB"/>
            </a:solidFill>
            <a:prstDash val="solid"/>
          </a:ln>
        </p:spPr>
      </p:sp>
      <p:sp>
        <p:nvSpPr>
          <p:cNvPr id="9" name="Text 7"/>
          <p:cNvSpPr/>
          <p:nvPr/>
        </p:nvSpPr>
        <p:spPr>
          <a:xfrm>
            <a:off x="1026160" y="4200128"/>
            <a:ext cx="14478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8460F"/>
                </a:solidFill>
                <a:latin typeface="Syne" pitchFamily="18" charset="0"/>
                <a:ea typeface="Syne" pitchFamily="18" charset="-122"/>
                <a:cs typeface="Syne" pitchFamily="18" charset="-120"/>
              </a:rPr>
              <a:t>+0.5</a:t>
            </a:r>
            <a:endParaRPr lang="en-US" sz="2800" dirty="0"/>
          </a:p>
        </p:txBody>
      </p:sp>
      <p:sp>
        <p:nvSpPr>
          <p:cNvPr id="10" name="Text 8"/>
          <p:cNvSpPr/>
          <p:nvPr/>
        </p:nvSpPr>
        <p:spPr>
          <a:xfrm>
            <a:off x="2575560" y="4217910"/>
            <a:ext cx="1275001"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1611"/>
                </a:solidFill>
                <a:latin typeface="DM Sans" pitchFamily="34" charset="0"/>
                <a:ea typeface="DM Sans" pitchFamily="34" charset="-122"/>
                <a:cs typeface="DM Sans" pitchFamily="34" charset="-120"/>
              </a:rPr>
              <a:t>40 mid types</a:t>
            </a:r>
            <a:endParaRPr lang="en-US" sz="1400" dirty="0"/>
          </a:p>
          <a:p>
            <a:pPr algn="l" indent="0" marL="0">
              <a:lnSpc>
                <a:spcPts val="1820"/>
              </a:lnSpc>
              <a:buNone/>
            </a:pPr>
            <a:r>
              <a:rPr lang="en-US" sz="1400" dirty="0">
                <a:solidFill>
                  <a:srgbClr val="5E4D41"/>
                </a:solidFill>
                <a:latin typeface="DM Sans" pitchFamily="34" charset="0"/>
                <a:ea typeface="DM Sans" pitchFamily="34" charset="-122"/>
                <a:cs typeface="DM Sans" pitchFamily="34" charset="-120"/>
              </a:rPr>
              <a:t>0.858 → 0.864</a:t>
            </a:r>
            <a:endParaRPr lang="en-US" sz="1400" dirty="0"/>
          </a:p>
        </p:txBody>
      </p:sp>
      <p:sp>
        <p:nvSpPr>
          <p:cNvPr id="11" name="Shape 9"/>
          <p:cNvSpPr/>
          <p:nvPr/>
        </p:nvSpPr>
        <p:spPr>
          <a:xfrm>
            <a:off x="812800" y="5038328"/>
            <a:ext cx="3937000" cy="802640"/>
          </a:xfrm>
          <a:prstGeom prst="roundRect">
            <a:avLst>
              <a:gd name="adj" fmla="val 15823"/>
            </a:avLst>
          </a:prstGeom>
          <a:solidFill>
            <a:srgbClr val="1F1611"/>
          </a:solidFill>
          <a:ln/>
        </p:spPr>
      </p:sp>
      <p:sp>
        <p:nvSpPr>
          <p:cNvPr id="12" name="Text 10"/>
          <p:cNvSpPr/>
          <p:nvPr/>
        </p:nvSpPr>
        <p:spPr>
          <a:xfrm>
            <a:off x="1016000" y="5190728"/>
            <a:ext cx="14478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6A1B"/>
                </a:solidFill>
                <a:latin typeface="Syne" pitchFamily="18" charset="0"/>
                <a:ea typeface="Syne" pitchFamily="18" charset="-122"/>
                <a:cs typeface="Syne" pitchFamily="18" charset="-120"/>
              </a:rPr>
              <a:t>−0.4</a:t>
            </a:r>
            <a:endParaRPr lang="en-US" sz="2800" dirty="0"/>
          </a:p>
        </p:txBody>
      </p:sp>
      <p:sp>
        <p:nvSpPr>
          <p:cNvPr id="13" name="Text 11"/>
          <p:cNvSpPr/>
          <p:nvPr/>
        </p:nvSpPr>
        <p:spPr>
          <a:xfrm>
            <a:off x="2565400" y="5208510"/>
            <a:ext cx="1232853"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BF6F0"/>
                </a:solidFill>
                <a:latin typeface="DM Sans" pitchFamily="34" charset="0"/>
                <a:ea typeface="DM Sans" pitchFamily="34" charset="-122"/>
                <a:cs typeface="DM Sans" pitchFamily="34" charset="-120"/>
              </a:rPr>
              <a:t>40 rare types</a:t>
            </a:r>
            <a:endParaRPr lang="en-US" sz="1400" dirty="0"/>
          </a:p>
          <a:p>
            <a:pPr algn="l" indent="0" marL="0">
              <a:lnSpc>
                <a:spcPts val="1820"/>
              </a:lnSpc>
              <a:buNone/>
            </a:pPr>
            <a:r>
              <a:rPr lang="en-US" sz="1400" dirty="0">
                <a:solidFill>
                  <a:srgbClr val="E9DCCF"/>
                </a:solidFill>
                <a:latin typeface="DM Sans" pitchFamily="34" charset="0"/>
                <a:ea typeface="DM Sans" pitchFamily="34" charset="-122"/>
                <a:cs typeface="DM Sans" pitchFamily="34" charset="-120"/>
              </a:rPr>
              <a:t>0.759 → 0.755</a:t>
            </a:r>
            <a:endParaRPr lang="en-US" sz="1400" dirty="0"/>
          </a:p>
        </p:txBody>
      </p:sp>
      <p:sp>
        <p:nvSpPr>
          <p:cNvPr id="14" name="Text 12"/>
          <p:cNvSpPr/>
          <p:nvPr/>
        </p:nvSpPr>
        <p:spPr>
          <a:xfrm>
            <a:off x="5207000" y="2627868"/>
            <a:ext cx="6357366" cy="237411"/>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5E4D41"/>
                </a:solidFill>
                <a:latin typeface="DM Sans" pitchFamily="34" charset="0"/>
                <a:ea typeface="DM Sans" pitchFamily="34" charset="-122"/>
                <a:cs typeface="DM Sans" pitchFamily="34" charset="-120"/>
              </a:rPr>
              <a:t>Most frequent confusions (and the reverse direction)</a:t>
            </a:r>
            <a:endParaRPr lang="en-US" sz="1194"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217160" y="2977039"/>
          <a:ext cx="6162040" cy="2111216"/>
        </p:xfrm>
        <a:graphic>
          <a:graphicData uri="http://schemas.openxmlformats.org/drawingml/2006/table">
            <a:tbl>
              <a:tblPr/>
              <a:tblGrid>
                <a:gridCol w="2341575"/>
                <a:gridCol w="2341575"/>
                <a:gridCol w="1478890"/>
              </a:tblGrid>
              <a:tr h="351869">
                <a:tc>
                  <a:txBody>
                    <a:bodyPr/>
                    <a:lstStyle/>
                    <a:p>
                      <a:pPr indent="0" marL="0">
                        <a:lnSpc>
                          <a:spcPts val="1795"/>
                        </a:lnSpc>
                        <a:buNone/>
                      </a:pPr>
                      <a:r>
                        <a:rPr lang="en-US" sz="1282" b="1" dirty="0">
                          <a:solidFill>
                            <a:srgbClr val="5E4D41"/>
                          </a:solidFill>
                          <a:latin typeface="DM Sans" pitchFamily="34" charset="0"/>
                          <a:ea typeface="DM Sans" pitchFamily="34" charset="-122"/>
                          <a:cs typeface="DM Sans" pitchFamily="34" charset="-120"/>
                        </a:rPr>
                        <a:t>True type</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indent="0" marL="0">
                        <a:lnSpc>
                          <a:spcPts val="1795"/>
                        </a:lnSpc>
                        <a:buNone/>
                      </a:pPr>
                      <a:r>
                        <a:rPr lang="en-US" sz="1282" b="1" dirty="0">
                          <a:solidFill>
                            <a:srgbClr val="5E4D41"/>
                          </a:solidFill>
                          <a:latin typeface="DM Sans" pitchFamily="34" charset="0"/>
                          <a:ea typeface="DM Sans" pitchFamily="34" charset="-122"/>
                          <a:cs typeface="DM Sans" pitchFamily="34" charset="-120"/>
                        </a:rPr>
                        <a:t>Predicted</a:t>
                      </a:r>
                      <a:endParaRPr lang="en-US" sz="1282" dirty="0">
                        <a:latin typeface="DM Sans" charset="0"/>
                        <a:ea typeface="DM Sans" charset="0"/>
                        <a:cs typeface="DM Sans" charset="0"/>
                      </a:endParaRPr>
                    </a:p>
                  </a:txBody>
                  <a:tcPr marL="56979" marR="56979" marT="56979" marB="56979"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algn="r" indent="0" marL="0">
                        <a:lnSpc>
                          <a:spcPts val="1795"/>
                        </a:lnSpc>
                        <a:buNone/>
                      </a:pPr>
                      <a:r>
                        <a:rPr lang="en-US" sz="1282" b="1" dirty="0">
                          <a:solidFill>
                            <a:srgbClr val="5E4D41"/>
                          </a:solidFill>
                          <a:latin typeface="DM Sans" pitchFamily="34" charset="0"/>
                          <a:ea typeface="DM Sans" pitchFamily="34" charset="-122"/>
                          <a:cs typeface="DM Sans" pitchFamily="34" charset="-120"/>
                        </a:rPr>
                        <a:t>Count</a:t>
                      </a:r>
                      <a:endParaRPr lang="en-US" sz="1282" dirty="0">
                        <a:latin typeface="DM Sans" charset="0"/>
                        <a:ea typeface="DM Sans" charset="0"/>
                        <a:cs typeface="DM Sans" charset="0"/>
                      </a:endParaRPr>
                    </a:p>
                  </a:txBody>
                  <a:tcPr marL="56979" marR="56979" marT="56979" marB="56979"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r>
              <a:tr h="351869">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Applicable Laws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Governing Laws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95"/>
                        </a:lnSpc>
                        <a:buNone/>
                      </a:pPr>
                      <a:r>
                        <a:rPr lang="en-US" sz="1282" dirty="0">
                          <a:solidFill>
                            <a:srgbClr val="1F1611"/>
                          </a:solidFill>
                          <a:latin typeface="DM Sans" pitchFamily="34" charset="0"/>
                          <a:ea typeface="DM Sans" pitchFamily="34" charset="-122"/>
                          <a:cs typeface="DM Sans" pitchFamily="34" charset="-120"/>
                        </a:rPr>
                        <a:t>33</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51869">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Definitions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Defined Terms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95"/>
                        </a:lnSpc>
                        <a:buNone/>
                      </a:pPr>
                      <a:r>
                        <a:rPr lang="en-US" sz="1282" dirty="0">
                          <a:solidFill>
                            <a:srgbClr val="1F1611"/>
                          </a:solidFill>
                          <a:latin typeface="DM Sans" pitchFamily="34" charset="0"/>
                          <a:ea typeface="DM Sans" pitchFamily="34" charset="-122"/>
                          <a:cs typeface="DM Sans" pitchFamily="34" charset="-120"/>
                        </a:rPr>
                        <a:t>24 · 12 back</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51869">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Tax Withholdings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Withholdings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95"/>
                        </a:lnSpc>
                        <a:buNone/>
                      </a:pPr>
                      <a:r>
                        <a:rPr lang="en-US" sz="1282" dirty="0">
                          <a:solidFill>
                            <a:srgbClr val="1F1611"/>
                          </a:solidFill>
                          <a:latin typeface="DM Sans" pitchFamily="34" charset="0"/>
                          <a:ea typeface="DM Sans" pitchFamily="34" charset="-122"/>
                          <a:cs typeface="DM Sans" pitchFamily="34" charset="-120"/>
                        </a:rPr>
                        <a:t>24 · 12 back</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51869">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Authorizations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Authority</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95"/>
                        </a:lnSpc>
                        <a:buNone/>
                      </a:pPr>
                      <a:r>
                        <a:rPr lang="en-US" sz="1282" dirty="0">
                          <a:solidFill>
                            <a:srgbClr val="1F1611"/>
                          </a:solidFill>
                          <a:latin typeface="DM Sans" pitchFamily="34" charset="0"/>
                          <a:ea typeface="DM Sans" pitchFamily="34" charset="-122"/>
                          <a:cs typeface="DM Sans" pitchFamily="34" charset="-120"/>
                        </a:rPr>
                        <a:t>16 · 10 back</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51869">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No Waivers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indent="0" marL="0">
                        <a:lnSpc>
                          <a:spcPts val="1795"/>
                        </a:lnSpc>
                        <a:buNone/>
                      </a:pPr>
                      <a:r>
                        <a:rPr lang="en-US" sz="1282" dirty="0">
                          <a:solidFill>
                            <a:srgbClr val="1F1611"/>
                          </a:solidFill>
                          <a:latin typeface="DM Sans" pitchFamily="34" charset="0"/>
                          <a:ea typeface="DM Sans" pitchFamily="34" charset="-122"/>
                          <a:cs typeface="DM Sans" pitchFamily="34" charset="-120"/>
                        </a:rPr>
                        <a:t>Waivers</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95"/>
                        </a:lnSpc>
                        <a:buNone/>
                      </a:pPr>
                      <a:r>
                        <a:rPr lang="en-US" sz="1282" dirty="0">
                          <a:solidFill>
                            <a:srgbClr val="1F1611"/>
                          </a:solidFill>
                          <a:latin typeface="DM Sans" pitchFamily="34" charset="0"/>
                          <a:ea typeface="DM Sans" pitchFamily="34" charset="-122"/>
                          <a:cs typeface="DM Sans" pitchFamily="34" charset="-120"/>
                        </a:rPr>
                        <a:t>14 · 11 back</a:t>
                      </a:r>
                      <a:endParaRPr lang="en-US" sz="1282" dirty="0">
                        <a:latin typeface="DM Sans" charset="0"/>
                        <a:ea typeface="DM Sans" charset="0"/>
                        <a:cs typeface="DM Sans" charset="0"/>
                      </a:endParaRPr>
                    </a:p>
                  </a:txBody>
                  <a:tcPr marL="56979" marR="56979" marT="56979" marB="56979"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bl>
          </a:graphicData>
        </a:graphic>
      </p:graphicFrame>
      <p:sp>
        <p:nvSpPr>
          <p:cNvPr id="16" name="Shape 13"/>
          <p:cNvSpPr/>
          <p:nvPr/>
        </p:nvSpPr>
        <p:spPr>
          <a:xfrm>
            <a:off x="5207000" y="5214779"/>
            <a:ext cx="6172200" cy="627221"/>
          </a:xfrm>
          <a:prstGeom prst="roundRect">
            <a:avLst>
              <a:gd name="adj" fmla="val 14174"/>
            </a:avLst>
          </a:prstGeom>
          <a:solidFill>
            <a:srgbClr val="FFE3CF"/>
          </a:solidFill>
          <a:ln/>
        </p:spPr>
      </p:sp>
      <p:sp>
        <p:nvSpPr>
          <p:cNvPr id="17" name="Text 14"/>
          <p:cNvSpPr/>
          <p:nvPr/>
        </p:nvSpPr>
        <p:spPr>
          <a:xfrm>
            <a:off x="5359400" y="5316379"/>
            <a:ext cx="6043422" cy="449421"/>
          </a:xfrm>
          <a:prstGeom prst="rect">
            <a:avLst/>
          </a:prstGeom>
          <a:noFill/>
          <a:ln/>
        </p:spPr>
        <p:txBody>
          <a:bodyPr wrap="square" lIns="0" tIns="0" rIns="0" bIns="0" rtlCol="0" anchor="t">
            <a:normAutofit/>
          </a:bodyPr>
          <a:lstStyle/>
          <a:p>
            <a:pPr algn="l" indent="0" marL="0">
              <a:lnSpc>
                <a:spcPts val="1684"/>
              </a:lnSpc>
              <a:buNone/>
            </a:pPr>
            <a:r>
              <a:rPr lang="en-US" sz="1203" dirty="0">
                <a:solidFill>
                  <a:srgbClr val="1F1611"/>
                </a:solidFill>
                <a:latin typeface="DM Sans" pitchFamily="34" charset="0"/>
                <a:ea typeface="DM Sans" pitchFamily="34" charset="-122"/>
                <a:cs typeface="DM Sans" pitchFamily="34" charset="-120"/>
              </a:rPr>
              <a:t>Labels a lawyer would treat as equivalent: a limit of the label set, not only of the model.</a:t>
            </a:r>
            <a:endParaRPr lang="en-US" sz="1203" dirty="0"/>
          </a:p>
        </p:txBody>
      </p:sp>
      <p:sp>
        <p:nvSpPr>
          <p:cNvPr id="18" name="Text 15"/>
          <p:cNvSpPr/>
          <p:nvPr/>
        </p:nvSpPr>
        <p:spPr>
          <a:xfrm>
            <a:off x="812800" y="6238239"/>
            <a:ext cx="70204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564"/>
                </a:solidFill>
                <a:latin typeface="DM Sans" pitchFamily="34" charset="0"/>
                <a:ea typeface="DM Sans" pitchFamily="34" charset="-122"/>
                <a:cs typeface="DM Sans" pitchFamily="34" charset="-120"/>
              </a:rPr>
              <a:t>Seed 42 · results/f1_by_bucket.csv · results/legalbert_e10_s42/top_confusions.csv</a:t>
            </a:r>
            <a:endParaRPr lang="en-US" sz="1200" dirty="0"/>
          </a:p>
        </p:txBody>
      </p:sp>
      <p:sp>
        <p:nvSpPr>
          <p:cNvPr id="19" name="Text 16"/>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564"/>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6A1B"/>
        </a:solidFill>
      </p:bgPr>
    </p:bg>
    <p:spTree>
      <p:nvGrpSpPr>
        <p:cNvPr id="1" name=""/>
        <p:cNvGrpSpPr/>
        <p:nvPr/>
      </p:nvGrpSpPr>
      <p:grpSpPr>
        <a:xfrm>
          <a:off x="0" y="0"/>
          <a:ext cx="0" cy="0"/>
          <a:chOff x="0" y="0"/>
          <a:chExt cx="0" cy="0"/>
        </a:xfrm>
      </p:grpSpPr>
      <p:sp>
        <p:nvSpPr>
          <p:cNvPr id="2" name="Text 0"/>
          <p:cNvSpPr/>
          <p:nvPr/>
        </p:nvSpPr>
        <p:spPr>
          <a:xfrm>
            <a:off x="812800" y="812800"/>
            <a:ext cx="10883392" cy="212249"/>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1F1611"/>
                </a:solidFill>
                <a:latin typeface="JetBrains Mono" pitchFamily="49" charset="0"/>
                <a:ea typeface="JetBrains Mono" pitchFamily="49" charset="-122"/>
                <a:cs typeface="JetBrains Mono" pitchFamily="49" charset="-120"/>
              </a:rPr>
              <a:t>WHEN TO TRUST IT · TEST SET, THRESHOLDS CHOSEN ON VALIDATION</a:t>
            </a:r>
            <a:endParaRPr lang="en-US" sz="1050" dirty="0"/>
          </a:p>
        </p:txBody>
      </p:sp>
      <p:sp>
        <p:nvSpPr>
          <p:cNvPr id="3" name="Text 1"/>
          <p:cNvSpPr/>
          <p:nvPr/>
        </p:nvSpPr>
        <p:spPr>
          <a:xfrm>
            <a:off x="812800" y="1001396"/>
            <a:ext cx="4578350" cy="2997200"/>
          </a:xfrm>
          <a:prstGeom prst="rect">
            <a:avLst/>
          </a:prstGeom>
          <a:noFill/>
          <a:ln/>
        </p:spPr>
        <p:txBody>
          <a:bodyPr wrap="square" lIns="0" tIns="0" rIns="0" bIns="0" rtlCol="0" anchor="t">
            <a:normAutofit/>
          </a:bodyPr>
          <a:lstStyle/>
          <a:p>
            <a:pPr algn="l" indent="0" marL="0">
              <a:lnSpc>
                <a:spcPts val="11700"/>
              </a:lnSpc>
              <a:buNone/>
            </a:pPr>
            <a:r>
              <a:rPr lang="en-US" sz="13000" b="1" spc="-300" kern="0" dirty="0">
                <a:solidFill>
                  <a:srgbClr val="1F1611"/>
                </a:solidFill>
                <a:latin typeface="Syne" pitchFamily="18" charset="0"/>
                <a:ea typeface="Syne" pitchFamily="18" charset="-122"/>
                <a:cs typeface="Syne" pitchFamily="18" charset="-120"/>
              </a:rPr>
              <a:t>77%</a:t>
            </a:r>
            <a:endParaRPr lang="en-US" sz="13000" dirty="0"/>
          </a:p>
        </p:txBody>
      </p:sp>
      <p:sp>
        <p:nvSpPr>
          <p:cNvPr id="4" name="Text 2"/>
          <p:cNvSpPr/>
          <p:nvPr/>
        </p:nvSpPr>
        <p:spPr>
          <a:xfrm>
            <a:off x="812800" y="4074796"/>
            <a:ext cx="4578350"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611"/>
                </a:solidFill>
                <a:latin typeface="DM Sans" pitchFamily="34" charset="0"/>
                <a:ea typeface="DM Sans" pitchFamily="34" charset="-122"/>
                <a:cs typeface="DM Sans" pitchFamily="34" charset="-120"/>
              </a:rPr>
              <a:t>of clauses tagged automatically at about </a:t>
            </a:r>
            <a:r>
              <a:rPr lang="en-US" sz="2000" b="1" dirty="0">
                <a:solidFill>
                  <a:srgbClr val="1F1611"/>
                </a:solidFill>
                <a:latin typeface="DM Sans" pitchFamily="34" charset="0"/>
                <a:ea typeface="DM Sans" pitchFamily="34" charset="-122"/>
                <a:cs typeface="DM Sans" pitchFamily="34" charset="-120"/>
              </a:rPr>
              <a:t>97% accuracy</a:t>
            </a:r>
            <a:r>
              <a:rPr lang="en-US" sz="2000" dirty="0">
                <a:solidFill>
                  <a:srgbClr val="1F1611"/>
                </a:solidFill>
                <a:latin typeface="DM Sans" pitchFamily="34" charset="0"/>
                <a:ea typeface="DM Sans" pitchFamily="34" charset="-122"/>
                <a:cs typeface="DM Sans" pitchFamily="34" charset="-120"/>
              </a:rPr>
              <a:t>. The other 23% go to a lawyer.</a:t>
            </a:r>
            <a:endParaRPr lang="en-US" sz="2000" dirty="0"/>
          </a:p>
        </p:txBody>
      </p:sp>
      <p:sp>
        <p:nvSpPr>
          <p:cNvPr id="5" name="Text 3"/>
          <p:cNvSpPr/>
          <p:nvPr/>
        </p:nvSpPr>
        <p:spPr>
          <a:xfrm>
            <a:off x="5867400" y="1800147"/>
            <a:ext cx="56771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611"/>
                </a:solidFill>
                <a:latin typeface="DM Sans" pitchFamily="34" charset="0"/>
                <a:ea typeface="DM Sans" pitchFamily="34" charset="-122"/>
                <a:cs typeface="DM Sans" pitchFamily="34" charset="-120"/>
              </a:rPr>
              <a:t>Share auto-tagged at ~97% accuracy</a:t>
            </a:r>
            <a:endParaRPr lang="en-US" sz="1400" dirty="0"/>
          </a:p>
        </p:txBody>
      </p:sp>
      <p:sp>
        <p:nvSpPr>
          <p:cNvPr id="6" name="Text 4"/>
          <p:cNvSpPr/>
          <p:nvPr/>
        </p:nvSpPr>
        <p:spPr>
          <a:xfrm>
            <a:off x="5867400" y="2226866"/>
            <a:ext cx="567715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Legal-BERT, calibrated</a:t>
            </a:r>
            <a:endParaRPr lang="en-US" sz="1300" dirty="0"/>
          </a:p>
        </p:txBody>
      </p:sp>
      <p:sp>
        <p:nvSpPr>
          <p:cNvPr id="7" name="Shape 5"/>
          <p:cNvSpPr/>
          <p:nvPr/>
        </p:nvSpPr>
        <p:spPr>
          <a:xfrm>
            <a:off x="5867400" y="2508805"/>
            <a:ext cx="2743200" cy="279400"/>
          </a:xfrm>
          <a:prstGeom prst="roundRect">
            <a:avLst>
              <a:gd name="adj" fmla="val 18182"/>
            </a:avLst>
          </a:prstGeom>
          <a:solidFill>
            <a:srgbClr val="FBF6F0"/>
          </a:solidFill>
          <a:ln/>
        </p:spPr>
      </p:sp>
      <p:sp>
        <p:nvSpPr>
          <p:cNvPr id="8" name="Text 6"/>
          <p:cNvSpPr/>
          <p:nvPr/>
        </p:nvSpPr>
        <p:spPr>
          <a:xfrm>
            <a:off x="8737600" y="2524047"/>
            <a:ext cx="8718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611"/>
                </a:solidFill>
                <a:latin typeface="DM Sans" pitchFamily="34" charset="0"/>
                <a:ea typeface="DM Sans" pitchFamily="34" charset="-122"/>
                <a:cs typeface="DM Sans" pitchFamily="34" charset="-120"/>
              </a:rPr>
              <a:t>58–65%</a:t>
            </a:r>
            <a:endParaRPr lang="en-US" sz="1400" dirty="0"/>
          </a:p>
        </p:txBody>
      </p:sp>
      <p:sp>
        <p:nvSpPr>
          <p:cNvPr id="9" name="Text 7"/>
          <p:cNvSpPr/>
          <p:nvPr/>
        </p:nvSpPr>
        <p:spPr>
          <a:xfrm>
            <a:off x="5867400" y="2966005"/>
            <a:ext cx="567715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TF-IDF + logistic regression</a:t>
            </a:r>
            <a:endParaRPr lang="en-US" sz="1300" dirty="0"/>
          </a:p>
        </p:txBody>
      </p:sp>
      <p:sp>
        <p:nvSpPr>
          <p:cNvPr id="10" name="Shape 8"/>
          <p:cNvSpPr/>
          <p:nvPr/>
        </p:nvSpPr>
        <p:spPr>
          <a:xfrm>
            <a:off x="5867400" y="3247947"/>
            <a:ext cx="3225800" cy="279400"/>
          </a:xfrm>
          <a:prstGeom prst="roundRect">
            <a:avLst>
              <a:gd name="adj" fmla="val 18182"/>
            </a:avLst>
          </a:prstGeom>
          <a:solidFill>
            <a:srgbClr val="FBF6F0"/>
          </a:solidFill>
          <a:ln/>
        </p:spPr>
      </p:sp>
      <p:sp>
        <p:nvSpPr>
          <p:cNvPr id="11" name="Text 9"/>
          <p:cNvSpPr/>
          <p:nvPr/>
        </p:nvSpPr>
        <p:spPr>
          <a:xfrm>
            <a:off x="9220200" y="3263187"/>
            <a:ext cx="43167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611"/>
                </a:solidFill>
                <a:latin typeface="DM Sans" pitchFamily="34" charset="0"/>
                <a:ea typeface="DM Sans" pitchFamily="34" charset="-122"/>
                <a:cs typeface="DM Sans" pitchFamily="34" charset="-120"/>
              </a:rPr>
              <a:t>73%</a:t>
            </a:r>
            <a:endParaRPr lang="en-US" sz="1400" dirty="0"/>
          </a:p>
        </p:txBody>
      </p:sp>
      <p:sp>
        <p:nvSpPr>
          <p:cNvPr id="12" name="Text 10"/>
          <p:cNvSpPr/>
          <p:nvPr/>
        </p:nvSpPr>
        <p:spPr>
          <a:xfrm>
            <a:off x="5867400" y="3705147"/>
            <a:ext cx="56771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Ensemble of both</a:t>
            </a:r>
            <a:endParaRPr lang="en-US" sz="1300" dirty="0"/>
          </a:p>
        </p:txBody>
      </p:sp>
      <p:sp>
        <p:nvSpPr>
          <p:cNvPr id="13" name="Shape 11"/>
          <p:cNvSpPr/>
          <p:nvPr/>
        </p:nvSpPr>
        <p:spPr>
          <a:xfrm>
            <a:off x="5867400" y="3987087"/>
            <a:ext cx="3403600" cy="279400"/>
          </a:xfrm>
          <a:prstGeom prst="roundRect">
            <a:avLst>
              <a:gd name="adj" fmla="val 18182"/>
            </a:avLst>
          </a:prstGeom>
          <a:solidFill>
            <a:srgbClr val="1F1611"/>
          </a:solidFill>
          <a:ln/>
        </p:spPr>
      </p:sp>
      <p:sp>
        <p:nvSpPr>
          <p:cNvPr id="14" name="Text 12"/>
          <p:cNvSpPr/>
          <p:nvPr/>
        </p:nvSpPr>
        <p:spPr>
          <a:xfrm>
            <a:off x="9398000" y="4002326"/>
            <a:ext cx="42119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611"/>
                </a:solidFill>
                <a:latin typeface="DM Sans" pitchFamily="34" charset="0"/>
                <a:ea typeface="DM Sans" pitchFamily="34" charset="-122"/>
                <a:cs typeface="DM Sans" pitchFamily="34" charset="-120"/>
              </a:rPr>
              <a:t>77%</a:t>
            </a:r>
            <a:endParaRPr lang="en-US" sz="1400" dirty="0"/>
          </a:p>
        </p:txBody>
      </p:sp>
      <p:sp>
        <p:nvSpPr>
          <p:cNvPr id="15" name="Shape 13"/>
          <p:cNvSpPr/>
          <p:nvPr/>
        </p:nvSpPr>
        <p:spPr>
          <a:xfrm>
            <a:off x="812800" y="5076586"/>
            <a:ext cx="10566400" cy="0"/>
          </a:xfrm>
          <a:prstGeom prst="line">
            <a:avLst/>
          </a:prstGeom>
          <a:noFill/>
          <a:ln w="19050">
            <a:solidFill>
              <a:srgbClr val="1F1611"/>
            </a:solidFill>
            <a:prstDash val="solid"/>
          </a:ln>
        </p:spPr>
      </p:sp>
      <p:sp>
        <p:nvSpPr>
          <p:cNvPr id="16" name="Text 14"/>
          <p:cNvSpPr/>
          <p:nvPr/>
        </p:nvSpPr>
        <p:spPr>
          <a:xfrm>
            <a:off x="812800" y="5234704"/>
            <a:ext cx="3453384" cy="63269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Calibration fixed:</a:t>
            </a:r>
            <a:r>
              <a:rPr lang="en-US" sz="1300" dirty="0">
                <a:solidFill>
                  <a:srgbClr val="1F1611"/>
                </a:solidFill>
                <a:latin typeface="DM Sans" pitchFamily="34" charset="0"/>
                <a:ea typeface="DM Sans" pitchFamily="34" charset="-122"/>
                <a:cs typeface="DM Sans" pitchFamily="34" charset="-120"/>
              </a:rPr>
              <a:t> one temperature (T ≈ 1.44) cuts Legal-BERT’s error from 0.083 to 0.024</a:t>
            </a:r>
            <a:endParaRPr lang="en-US" sz="1300" dirty="0"/>
          </a:p>
        </p:txBody>
      </p:sp>
      <p:sp>
        <p:nvSpPr>
          <p:cNvPr id="17" name="Text 15"/>
          <p:cNvSpPr/>
          <p:nvPr/>
        </p:nvSpPr>
        <p:spPr>
          <a:xfrm>
            <a:off x="4419600" y="5234704"/>
            <a:ext cx="3453384" cy="63269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Alone, Legal-BERT</a:t>
            </a:r>
            <a:r>
              <a:rPr lang="en-US" sz="1300" dirty="0">
                <a:solidFill>
                  <a:srgbClr val="1F1611"/>
                </a:solidFill>
                <a:latin typeface="DM Sans" pitchFamily="34" charset="0"/>
                <a:ea typeface="DM Sans" pitchFamily="34" charset="-122"/>
                <a:cs typeface="DM Sans" pitchFamily="34" charset="-120"/>
              </a:rPr>
              <a:t> knows when it is right no better than TF-IDF</a:t>
            </a:r>
            <a:endParaRPr lang="en-US" sz="1300" dirty="0"/>
          </a:p>
        </p:txBody>
      </p:sp>
      <p:sp>
        <p:nvSpPr>
          <p:cNvPr id="18" name="Text 16"/>
          <p:cNvSpPr/>
          <p:nvPr/>
        </p:nvSpPr>
        <p:spPr>
          <a:xfrm>
            <a:off x="8026400" y="5234704"/>
            <a:ext cx="3453384" cy="63269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Together</a:t>
            </a:r>
            <a:r>
              <a:rPr lang="en-US" sz="1300" dirty="0">
                <a:solidFill>
                  <a:srgbClr val="1F1611"/>
                </a:solidFill>
                <a:latin typeface="DM Sans" pitchFamily="34" charset="0"/>
                <a:ea typeface="DM Sans" pitchFamily="34" charset="-122"/>
                <a:cs typeface="DM Sans" pitchFamily="34" charset="-120"/>
              </a:rPr>
              <a:t> they are complementary, and TF-IDF costs almost nothing</a:t>
            </a:r>
            <a:endParaRPr lang="en-US" sz="1300" dirty="0"/>
          </a:p>
        </p:txBody>
      </p:sp>
      <p:sp>
        <p:nvSpPr>
          <p:cNvPr id="19" name="Text 17"/>
          <p:cNvSpPr/>
          <p:nvPr/>
        </p:nvSpPr>
        <p:spPr>
          <a:xfrm>
            <a:off x="812800" y="6238239"/>
            <a:ext cx="60224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611"/>
                </a:solidFill>
                <a:latin typeface="DM Sans" pitchFamily="34" charset="0"/>
                <a:ea typeface="DM Sans" pitchFamily="34" charset="-122"/>
                <a:cs typeface="DM Sans" pitchFamily="34" charset="-120"/>
              </a:rPr>
              <a:t>Seeds 1 and 2 · results/abstention.json · results/ensemble_summary.csv</a:t>
            </a:r>
            <a:endParaRPr lang="en-US" sz="1200" dirty="0"/>
          </a:p>
        </p:txBody>
      </p:sp>
      <p:sp>
        <p:nvSpPr>
          <p:cNvPr id="20" name="Text 18"/>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F1611"/>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7D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8460F"/>
                </a:solidFill>
                <a:latin typeface="JetBrains Mono" pitchFamily="49" charset="0"/>
                <a:ea typeface="JetBrains Mono" pitchFamily="49" charset="-122"/>
                <a:cs typeface="JetBrains Mono" pitchFamily="49" charset="-120"/>
              </a:rPr>
              <a:t>RETRIEVAL · 30 LAWYER QUESTIONS, 60,000-CLAUSE BANK</a:t>
            </a:r>
            <a:endParaRPr lang="en-US" sz="1200" dirty="0"/>
          </a:p>
        </p:txBody>
      </p:sp>
      <p:sp>
        <p:nvSpPr>
          <p:cNvPr id="3" name="Text 1"/>
          <p:cNvSpPr/>
          <p:nvPr>
            <p:ph type="title"/>
          </p:nvPr>
        </p:nvSpPr>
        <p:spPr>
          <a:xfrm>
            <a:off x="812800" y="1153161"/>
            <a:ext cx="10464800"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1611"/>
                </a:solidFill>
                <a:latin typeface="Syne" pitchFamily="18" charset="0"/>
                <a:ea typeface="Syne" pitchFamily="18" charset="-122"/>
                <a:cs typeface="Syne" pitchFamily="18" charset="-120"/>
              </a:rPr>
              <a:t>Plain keyword search finds precedents best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419349"/>
          <a:ext cx="10556240" cy="1640840"/>
        </p:xfrm>
        <a:graphic>
          <a:graphicData uri="http://schemas.openxmlformats.org/drawingml/2006/table">
            <a:tbl>
              <a:tblPr/>
              <a:tblGrid>
                <a:gridCol w="4539183"/>
                <a:gridCol w="2005686"/>
                <a:gridCol w="2005686"/>
                <a:gridCol w="2005686"/>
              </a:tblGrid>
              <a:tr h="410210">
                <a:tc>
                  <a:txBody>
                    <a:bodyPr/>
                    <a:lstStyle/>
                    <a:p>
                      <a:pPr indent="0" marL="0">
                        <a:lnSpc>
                          <a:spcPts val="2100"/>
                        </a:lnSpc>
                        <a:buNone/>
                      </a:pPr>
                      <a:r>
                        <a:rPr lang="en-US" sz="1500" b="1" dirty="0">
                          <a:solidFill>
                            <a:srgbClr val="5E4D41"/>
                          </a:solidFill>
                          <a:latin typeface="DM Sans" pitchFamily="34" charset="0"/>
                          <a:ea typeface="DM Sans" pitchFamily="34" charset="-122"/>
                          <a:cs typeface="DM Sans" pitchFamily="34" charset="-120"/>
                        </a:rPr>
                        <a:t>Method</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B4ABA2"/>
                      </a:solidFill>
                      <a:prstDash val="solid"/>
                      <a:round/>
                      <a:headEnd type="none" w="med" len="med"/>
                      <a:tailEnd type="none" w="med" len="med"/>
                    </a:lnR>
                    <a:lnT w="12700" cap="flat" cmpd="sng" algn="ctr">
                      <a:solidFill>
                        <a:srgbClr val="C2B9AE"/>
                      </a:solidFill>
                      <a:prstDash val="solid"/>
                      <a:round/>
                      <a:headEnd type="none" w="med" len="med"/>
                      <a:tailEnd type="none" w="med" len="med"/>
                    </a:lnT>
                    <a:lnB w="12700" cap="flat" cmpd="sng" algn="ctr">
                      <a:solidFill>
                        <a:srgbClr val="B4ABA2"/>
                      </a:solidFill>
                      <a:prstDash val="solid"/>
                      <a:round/>
                      <a:headEnd type="none" w="med" len="med"/>
                      <a:tailEnd type="none" w="med" len="med"/>
                    </a:lnB>
                    <a:solidFill>
                      <a:srgbClr val="E1D6CA"/>
                    </a:solidFill>
                  </a:tcPr>
                </a:tc>
                <a:tc>
                  <a:txBody>
                    <a:bodyPr/>
                    <a:lstStyle/>
                    <a:p>
                      <a:pPr algn="r" indent="0" marL="0">
                        <a:lnSpc>
                          <a:spcPts val="2100"/>
                        </a:lnSpc>
                        <a:buNone/>
                      </a:pPr>
                      <a:r>
                        <a:rPr lang="en-US" sz="1500" b="1" dirty="0">
                          <a:solidFill>
                            <a:srgbClr val="5E4D41"/>
                          </a:solidFill>
                          <a:latin typeface="DM Sans" pitchFamily="34" charset="0"/>
                          <a:ea typeface="DM Sans" pitchFamily="34" charset="-122"/>
                          <a:cs typeface="DM Sans" pitchFamily="34" charset="-120"/>
                        </a:rPr>
                        <a:t>Right type in top 5</a:t>
                      </a:r>
                      <a:endParaRPr lang="en-US" sz="1500" dirty="0">
                        <a:latin typeface="DM Sans" charset="0"/>
                        <a:ea typeface="DM Sans" charset="0"/>
                        <a:cs typeface="DM Sans" charset="0"/>
                      </a:endParaRPr>
                    </a:p>
                  </a:txBody>
                  <a:tcPr marL="66675" marR="66675" marT="66675" marB="66675" anchor="t">
                    <a:lnL w="12700" cap="flat" cmpd="sng" algn="ctr">
                      <a:solidFill>
                        <a:srgbClr val="B4ABA2"/>
                      </a:solidFill>
                      <a:prstDash val="solid"/>
                      <a:round/>
                      <a:headEnd type="none" w="med" len="med"/>
                      <a:tailEnd type="none" w="med" len="med"/>
                    </a:lnL>
                    <a:lnR w="12700" cap="flat" cmpd="sng" algn="ctr">
                      <a:solidFill>
                        <a:srgbClr val="B4ABA2"/>
                      </a:solidFill>
                      <a:prstDash val="solid"/>
                      <a:round/>
                      <a:headEnd type="none" w="med" len="med"/>
                      <a:tailEnd type="none" w="med" len="med"/>
                    </a:lnR>
                    <a:lnT w="12700" cap="flat" cmpd="sng" algn="ctr">
                      <a:solidFill>
                        <a:srgbClr val="C2B9AE"/>
                      </a:solidFill>
                      <a:prstDash val="solid"/>
                      <a:round/>
                      <a:headEnd type="none" w="med" len="med"/>
                      <a:tailEnd type="none" w="med" len="med"/>
                    </a:lnT>
                    <a:lnB w="12700" cap="flat" cmpd="sng" algn="ctr">
                      <a:solidFill>
                        <a:srgbClr val="B4ABA2"/>
                      </a:solidFill>
                      <a:prstDash val="solid"/>
                      <a:round/>
                      <a:headEnd type="none" w="med" len="med"/>
                      <a:tailEnd type="none" w="med" len="med"/>
                    </a:lnB>
                    <a:solidFill>
                      <a:srgbClr val="E1D6CA"/>
                    </a:solidFill>
                  </a:tcPr>
                </a:tc>
                <a:tc>
                  <a:txBody>
                    <a:bodyPr/>
                    <a:lstStyle/>
                    <a:p>
                      <a:pPr algn="r" indent="0" marL="0">
                        <a:lnSpc>
                          <a:spcPts val="2100"/>
                        </a:lnSpc>
                        <a:buNone/>
                      </a:pPr>
                      <a:r>
                        <a:rPr lang="en-US" sz="1500" b="1" dirty="0">
                          <a:solidFill>
                            <a:srgbClr val="5E4D41"/>
                          </a:solidFill>
                          <a:latin typeface="DM Sans" pitchFamily="34" charset="0"/>
                          <a:ea typeface="DM Sans" pitchFamily="34" charset="-122"/>
                          <a:cs typeface="DM Sans" pitchFamily="34" charset="-120"/>
                        </a:rPr>
                        <a:t>MRR</a:t>
                      </a:r>
                      <a:endParaRPr lang="en-US" sz="1500" dirty="0">
                        <a:latin typeface="DM Sans" charset="0"/>
                        <a:ea typeface="DM Sans" charset="0"/>
                        <a:cs typeface="DM Sans" charset="0"/>
                      </a:endParaRPr>
                    </a:p>
                  </a:txBody>
                  <a:tcPr marL="66675" marR="66675" marT="66675" marB="66675" anchor="t">
                    <a:lnL w="12700" cap="flat" cmpd="sng" algn="ctr">
                      <a:solidFill>
                        <a:srgbClr val="B4ABA2"/>
                      </a:solidFill>
                      <a:prstDash val="solid"/>
                      <a:round/>
                      <a:headEnd type="none" w="med" len="med"/>
                      <a:tailEnd type="none" w="med" len="med"/>
                    </a:lnL>
                    <a:lnR w="12700" cap="flat" cmpd="sng" algn="ctr">
                      <a:solidFill>
                        <a:srgbClr val="B4ABA2"/>
                      </a:solidFill>
                      <a:prstDash val="solid"/>
                      <a:round/>
                      <a:headEnd type="none" w="med" len="med"/>
                      <a:tailEnd type="none" w="med" len="med"/>
                    </a:lnR>
                    <a:lnT w="12700" cap="flat" cmpd="sng" algn="ctr">
                      <a:solidFill>
                        <a:srgbClr val="C2B9AE"/>
                      </a:solidFill>
                      <a:prstDash val="solid"/>
                      <a:round/>
                      <a:headEnd type="none" w="med" len="med"/>
                      <a:tailEnd type="none" w="med" len="med"/>
                    </a:lnT>
                    <a:lnB w="12700" cap="flat" cmpd="sng" algn="ctr">
                      <a:solidFill>
                        <a:srgbClr val="B4ABA2"/>
                      </a:solidFill>
                      <a:prstDash val="solid"/>
                      <a:round/>
                      <a:headEnd type="none" w="med" len="med"/>
                      <a:tailEnd type="none" w="med" len="med"/>
                    </a:lnB>
                    <a:solidFill>
                      <a:srgbClr val="E1D6CA"/>
                    </a:solidFill>
                  </a:tcPr>
                </a:tc>
                <a:tc>
                  <a:txBody>
                    <a:bodyPr/>
                    <a:lstStyle/>
                    <a:p>
                      <a:pPr algn="r" indent="0" marL="0">
                        <a:lnSpc>
                          <a:spcPts val="2100"/>
                        </a:lnSpc>
                        <a:buNone/>
                      </a:pPr>
                      <a:r>
                        <a:rPr lang="en-US" sz="1500" b="1" dirty="0">
                          <a:solidFill>
                            <a:srgbClr val="5E4D41"/>
                          </a:solidFill>
                          <a:latin typeface="DM Sans" pitchFamily="34" charset="0"/>
                          <a:ea typeface="DM Sans" pitchFamily="34" charset="-122"/>
                          <a:cs typeface="DM Sans" pitchFamily="34" charset="-120"/>
                        </a:rPr>
                        <a:t>Top 5, rare types</a:t>
                      </a:r>
                      <a:endParaRPr lang="en-US" sz="1500" dirty="0">
                        <a:latin typeface="DM Sans" charset="0"/>
                        <a:ea typeface="DM Sans" charset="0"/>
                        <a:cs typeface="DM Sans" charset="0"/>
                      </a:endParaRPr>
                    </a:p>
                  </a:txBody>
                  <a:tcPr marL="66675" marR="66675" marT="66675" marB="66675" anchor="t">
                    <a:lnL w="12700" cap="flat" cmpd="sng" algn="ctr">
                      <a:solidFill>
                        <a:srgbClr val="B4ABA2"/>
                      </a:solidFill>
                      <a:prstDash val="solid"/>
                      <a:round/>
                      <a:headEnd type="none" w="med" len="med"/>
                      <a:tailEnd type="none" w="med" len="med"/>
                    </a:lnL>
                    <a:lnR w="12700" cap="flat" cmpd="sng" algn="ctr">
                      <a:solidFill>
                        <a:srgbClr val="B4ABA2"/>
                      </a:solidFill>
                      <a:prstDash val="solid"/>
                      <a:round/>
                      <a:headEnd type="none" w="med" len="med"/>
                      <a:tailEnd type="none" w="med" len="med"/>
                    </a:lnR>
                    <a:lnT w="12700" cap="flat" cmpd="sng" algn="ctr">
                      <a:solidFill>
                        <a:srgbClr val="C2B9AE"/>
                      </a:solidFill>
                      <a:prstDash val="solid"/>
                      <a:round/>
                      <a:headEnd type="none" w="med" len="med"/>
                      <a:tailEnd type="none" w="med" len="med"/>
                    </a:lnT>
                    <a:lnB w="12700" cap="flat" cmpd="sng" algn="ctr">
                      <a:solidFill>
                        <a:srgbClr val="B4ABA2"/>
                      </a:solidFill>
                      <a:prstDash val="solid"/>
                      <a:round/>
                      <a:headEnd type="none" w="med" len="med"/>
                      <a:tailEnd type="none" w="med" len="med"/>
                    </a:lnB>
                    <a:solidFill>
                      <a:srgbClr val="E1D6CA"/>
                    </a:solidFill>
                  </a:tcPr>
                </a:tc>
              </a:tr>
              <a:tr h="410210">
                <a:tc>
                  <a:txBody>
                    <a:bodyPr/>
                    <a:lstStyle/>
                    <a:p>
                      <a:pPr indent="0" marL="0">
                        <a:lnSpc>
                          <a:spcPts val="2100"/>
                        </a:lnSpc>
                        <a:buNone/>
                      </a:pPr>
                      <a:r>
                        <a:rPr lang="en-US" sz="1500" dirty="0">
                          <a:solidFill>
                            <a:srgbClr val="1F1611"/>
                          </a:solidFill>
                          <a:latin typeface="DM Sans" pitchFamily="34" charset="0"/>
                          <a:ea typeface="DM Sans" pitchFamily="34" charset="-122"/>
                          <a:cs typeface="DM Sans" pitchFamily="34" charset="-120"/>
                        </a:rPr>
                        <a:t>BM25 keyword search</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4ABA2"/>
                      </a:solidFill>
                      <a:prstDash val="solid"/>
                      <a:round/>
                      <a:headEnd type="none" w="med" len="med"/>
                      <a:tailEnd type="none" w="med" len="med"/>
                    </a:lnT>
                    <a:lnB w="12700" cap="flat" cmpd="sng" algn="ctr">
                      <a:solidFill>
                        <a:srgbClr val="C8C4BF"/>
                      </a:solidFill>
                      <a:prstDash val="solid"/>
                      <a:round/>
                      <a:headEnd type="none" w="med" len="med"/>
                      <a:tailEnd type="none" w="med" len="med"/>
                    </a:lnB>
                    <a:solidFill>
                      <a:srgbClr val="FBF6F0"/>
                    </a:solidFill>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96.7%</a:t>
                      </a:r>
                      <a:endParaRPr lang="en-US" sz="1500" dirty="0">
                        <a:latin typeface="DM Sans" charset="0"/>
                        <a:ea typeface="DM Sans" charset="0"/>
                        <a:cs typeface="DM Sans" charset="0"/>
                      </a:endParaRPr>
                    </a:p>
                  </a:txBody>
                  <a:tcPr marL="66675" marR="66675" marT="66675" marB="66675"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4ABA2"/>
                      </a:solidFill>
                      <a:prstDash val="solid"/>
                      <a:round/>
                      <a:headEnd type="none" w="med" len="med"/>
                      <a:tailEnd type="none" w="med" len="med"/>
                    </a:lnT>
                    <a:lnB w="12700" cap="flat" cmpd="sng" algn="ctr">
                      <a:solidFill>
                        <a:srgbClr val="C8C4BF"/>
                      </a:solidFill>
                      <a:prstDash val="solid"/>
                      <a:round/>
                      <a:headEnd type="none" w="med" len="med"/>
                      <a:tailEnd type="none" w="med" len="med"/>
                    </a:lnB>
                    <a:solidFill>
                      <a:srgbClr val="FBF6F0"/>
                    </a:solidFill>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0.856</a:t>
                      </a:r>
                      <a:endParaRPr lang="en-US" sz="1500" dirty="0">
                        <a:latin typeface="DM Sans" charset="0"/>
                        <a:ea typeface="DM Sans" charset="0"/>
                        <a:cs typeface="DM Sans" charset="0"/>
                      </a:endParaRPr>
                    </a:p>
                  </a:txBody>
                  <a:tcPr marL="66675" marR="66675" marT="66675" marB="66675"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4ABA2"/>
                      </a:solidFill>
                      <a:prstDash val="solid"/>
                      <a:round/>
                      <a:headEnd type="none" w="med" len="med"/>
                      <a:tailEnd type="none" w="med" len="med"/>
                    </a:lnT>
                    <a:lnB w="12700" cap="flat" cmpd="sng" algn="ctr">
                      <a:solidFill>
                        <a:srgbClr val="C8C4BF"/>
                      </a:solidFill>
                      <a:prstDash val="solid"/>
                      <a:round/>
                      <a:headEnd type="none" w="med" len="med"/>
                      <a:tailEnd type="none" w="med" len="med"/>
                    </a:lnB>
                    <a:solidFill>
                      <a:srgbClr val="FBF6F0"/>
                    </a:solidFill>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91.7%</a:t>
                      </a:r>
                      <a:endParaRPr lang="en-US" sz="1500" dirty="0">
                        <a:latin typeface="DM Sans" charset="0"/>
                        <a:ea typeface="DM Sans" charset="0"/>
                        <a:cs typeface="DM Sans" charset="0"/>
                      </a:endParaRPr>
                    </a:p>
                  </a:txBody>
                  <a:tcPr marL="66675" marR="66675" marT="66675" marB="66675"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4ABA2"/>
                      </a:solidFill>
                      <a:prstDash val="solid"/>
                      <a:round/>
                      <a:headEnd type="none" w="med" len="med"/>
                      <a:tailEnd type="none" w="med" len="med"/>
                    </a:lnT>
                    <a:lnB w="12700" cap="flat" cmpd="sng" algn="ctr">
                      <a:solidFill>
                        <a:srgbClr val="C8C4BF"/>
                      </a:solidFill>
                      <a:prstDash val="solid"/>
                      <a:round/>
                      <a:headEnd type="none" w="med" len="med"/>
                      <a:tailEnd type="none" w="med" len="med"/>
                    </a:lnB>
                    <a:solidFill>
                      <a:srgbClr val="FBF6F0"/>
                    </a:solidFill>
                  </a:tcPr>
                </a:tc>
              </a:tr>
              <a:tr h="410210">
                <a:tc>
                  <a:txBody>
                    <a:bodyPr/>
                    <a:lstStyle/>
                    <a:p>
                      <a:pPr indent="0" marL="0">
                        <a:lnSpc>
                          <a:spcPts val="2100"/>
                        </a:lnSpc>
                        <a:buNone/>
                      </a:pPr>
                      <a:r>
                        <a:rPr lang="en-US" sz="1500" dirty="0">
                          <a:solidFill>
                            <a:srgbClr val="1F1611"/>
                          </a:solidFill>
                          <a:latin typeface="DM Sans" pitchFamily="34" charset="0"/>
                          <a:ea typeface="DM Sans" pitchFamily="34" charset="-122"/>
                          <a:cs typeface="DM Sans" pitchFamily="34" charset="-120"/>
                        </a:rPr>
                        <a:t>Hybrid: BM25 + embeddings</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2B9AE"/>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2B9AE"/>
                      </a:solidFill>
                      <a:prstDash val="solid"/>
                      <a:round/>
                      <a:headEnd type="none" w="med" len="med"/>
                      <a:tailEnd type="none" w="med" len="med"/>
                    </a:lnB>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93.3%</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2B9AE"/>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2B9AE"/>
                      </a:solidFill>
                      <a:prstDash val="solid"/>
                      <a:round/>
                      <a:headEnd type="none" w="med" len="med"/>
                      <a:tailEnd type="none" w="med" len="med"/>
                    </a:lnB>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0.832</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2B9AE"/>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2B9AE"/>
                      </a:solidFill>
                      <a:prstDash val="solid"/>
                      <a:round/>
                      <a:headEnd type="none" w="med" len="med"/>
                      <a:tailEnd type="none" w="med" len="med"/>
                    </a:lnB>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83.3%</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2B9AE"/>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2B9A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F1611"/>
                          </a:solidFill>
                          <a:latin typeface="DM Sans" pitchFamily="34" charset="0"/>
                          <a:ea typeface="DM Sans" pitchFamily="34" charset="-122"/>
                          <a:cs typeface="DM Sans" pitchFamily="34" charset="-120"/>
                        </a:rPr>
                        <a:t>Embeddings (MiniLM + FAISS)</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2B9AE"/>
                      </a:solidFill>
                      <a:prstDash val="solid"/>
                      <a:round/>
                      <a:headEnd type="none" w="med" len="med"/>
                      <a:tailEnd type="none" w="med" len="med"/>
                    </a:lnR>
                    <a:lnT w="12700" cap="flat" cmpd="sng" algn="ctr">
                      <a:solidFill>
                        <a:srgbClr val="C2B9AE"/>
                      </a:solidFill>
                      <a:prstDash val="solid"/>
                      <a:round/>
                      <a:headEnd type="none" w="med" len="med"/>
                      <a:tailEnd type="none" w="med" len="med"/>
                    </a:lnT>
                    <a:lnB w="12700" cap="flat" cmpd="sng" algn="ctr">
                      <a:solidFill>
                        <a:srgbClr val="C2B9AE"/>
                      </a:solidFill>
                      <a:prstDash val="solid"/>
                      <a:round/>
                      <a:headEnd type="none" w="med" len="med"/>
                      <a:tailEnd type="none" w="med" len="med"/>
                    </a:lnB>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90.0%</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2B9AE"/>
                      </a:solidFill>
                      <a:prstDash val="solid"/>
                      <a:round/>
                      <a:headEnd type="none" w="med" len="med"/>
                      <a:tailEnd type="none" w="med" len="med"/>
                    </a:lnR>
                    <a:lnT w="12700" cap="flat" cmpd="sng" algn="ctr">
                      <a:solidFill>
                        <a:srgbClr val="C2B9AE"/>
                      </a:solidFill>
                      <a:prstDash val="solid"/>
                      <a:round/>
                      <a:headEnd type="none" w="med" len="med"/>
                      <a:tailEnd type="none" w="med" len="med"/>
                    </a:lnT>
                    <a:lnB w="12700" cap="flat" cmpd="sng" algn="ctr">
                      <a:solidFill>
                        <a:srgbClr val="C2B9AE"/>
                      </a:solidFill>
                      <a:prstDash val="solid"/>
                      <a:round/>
                      <a:headEnd type="none" w="med" len="med"/>
                      <a:tailEnd type="none" w="med" len="med"/>
                    </a:lnB>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0.786</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2B9AE"/>
                      </a:solidFill>
                      <a:prstDash val="solid"/>
                      <a:round/>
                      <a:headEnd type="none" w="med" len="med"/>
                      <a:tailEnd type="none" w="med" len="med"/>
                    </a:lnR>
                    <a:lnT w="12700" cap="flat" cmpd="sng" algn="ctr">
                      <a:solidFill>
                        <a:srgbClr val="C2B9AE"/>
                      </a:solidFill>
                      <a:prstDash val="solid"/>
                      <a:round/>
                      <a:headEnd type="none" w="med" len="med"/>
                      <a:tailEnd type="none" w="med" len="med"/>
                    </a:lnT>
                    <a:lnB w="12700" cap="flat" cmpd="sng" algn="ctr">
                      <a:solidFill>
                        <a:srgbClr val="C2B9AE"/>
                      </a:solidFill>
                      <a:prstDash val="solid"/>
                      <a:round/>
                      <a:headEnd type="none" w="med" len="med"/>
                      <a:tailEnd type="none" w="med" len="med"/>
                    </a:lnB>
                  </a:tcPr>
                </a:tc>
                <a:tc>
                  <a:txBody>
                    <a:bodyPr/>
                    <a:lstStyle/>
                    <a:p>
                      <a:pPr algn="r" indent="0" marL="0">
                        <a:lnSpc>
                          <a:spcPts val="2100"/>
                        </a:lnSpc>
                        <a:buNone/>
                      </a:pPr>
                      <a:r>
                        <a:rPr lang="en-US" sz="1500" dirty="0">
                          <a:solidFill>
                            <a:srgbClr val="1F1611"/>
                          </a:solidFill>
                          <a:latin typeface="DM Sans" pitchFamily="34" charset="0"/>
                          <a:ea typeface="DM Sans" pitchFamily="34" charset="-122"/>
                          <a:cs typeface="DM Sans" pitchFamily="34" charset="-120"/>
                        </a:rPr>
                        <a:t>75.0%</a:t>
                      </a:r>
                      <a:endParaRPr lang="en-US" sz="1500" dirty="0">
                        <a:latin typeface="DM Sans" charset="0"/>
                        <a:ea typeface="DM Sans" charset="0"/>
                        <a:cs typeface="DM Sans" charset="0"/>
                      </a:endParaRPr>
                    </a:p>
                  </a:txBody>
                  <a:tcPr marL="66675" marR="66675" marT="66675" marB="66675" anchor="t">
                    <a:lnL w="12700" cap="flat" cmpd="sng" algn="ctr">
                      <a:solidFill>
                        <a:srgbClr val="C2B9AE"/>
                      </a:solidFill>
                      <a:prstDash val="solid"/>
                      <a:round/>
                      <a:headEnd type="none" w="med" len="med"/>
                      <a:tailEnd type="none" w="med" len="med"/>
                    </a:lnL>
                    <a:lnR w="12700" cap="flat" cmpd="sng" algn="ctr">
                      <a:solidFill>
                        <a:srgbClr val="C2B9AE"/>
                      </a:solidFill>
                      <a:prstDash val="solid"/>
                      <a:round/>
                      <a:headEnd type="none" w="med" len="med"/>
                      <a:tailEnd type="none" w="med" len="med"/>
                    </a:lnR>
                    <a:lnT w="12700" cap="flat" cmpd="sng" algn="ctr">
                      <a:solidFill>
                        <a:srgbClr val="C2B9AE"/>
                      </a:solidFill>
                      <a:prstDash val="solid"/>
                      <a:round/>
                      <a:headEnd type="none" w="med" len="med"/>
                      <a:tailEnd type="none" w="med" len="med"/>
                    </a:lnT>
                    <a:lnB w="12700" cap="flat" cmpd="sng" algn="ctr">
                      <a:solidFill>
                        <a:srgbClr val="C2B9AE"/>
                      </a:solidFill>
                      <a:prstDash val="solid"/>
                      <a:round/>
                      <a:headEnd type="none" w="med" len="med"/>
                      <a:tailEnd type="none" w="med" len="med"/>
                    </a:lnB>
                  </a:tcPr>
                </a:tc>
              </a:tr>
            </a:tbl>
          </a:graphicData>
        </a:graphic>
      </p:graphicFrame>
      <p:sp>
        <p:nvSpPr>
          <p:cNvPr id="5" name="Shape 2"/>
          <p:cNvSpPr/>
          <p:nvPr/>
        </p:nvSpPr>
        <p:spPr>
          <a:xfrm>
            <a:off x="812800" y="4422142"/>
            <a:ext cx="3403600" cy="1419860"/>
          </a:xfrm>
          <a:prstGeom prst="roundRect">
            <a:avLst>
              <a:gd name="adj" fmla="val 8945"/>
            </a:avLst>
          </a:prstGeom>
          <a:solidFill>
            <a:srgbClr val="FBF6F0"/>
          </a:solidFill>
          <a:ln/>
        </p:spPr>
      </p:sp>
      <p:sp>
        <p:nvSpPr>
          <p:cNvPr id="6" name="Text 3"/>
          <p:cNvSpPr/>
          <p:nvPr/>
        </p:nvSpPr>
        <p:spPr>
          <a:xfrm>
            <a:off x="1016000" y="4625342"/>
            <a:ext cx="308711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611"/>
                </a:solidFill>
                <a:latin typeface="Syne" pitchFamily="18" charset="0"/>
                <a:ea typeface="Syne" pitchFamily="18" charset="-122"/>
                <a:cs typeface="Syne" pitchFamily="18" charset="-120"/>
              </a:rPr>
              <a:t>Misses are all rare types</a:t>
            </a:r>
            <a:endParaRPr lang="en-US" sz="1600" dirty="0"/>
          </a:p>
        </p:txBody>
      </p:sp>
      <p:sp>
        <p:nvSpPr>
          <p:cNvPr id="7" name="Text 4"/>
          <p:cNvSpPr/>
          <p:nvPr/>
        </p:nvSpPr>
        <p:spPr>
          <a:xfrm>
            <a:off x="1016000" y="4945379"/>
            <a:ext cx="308711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4D41"/>
                </a:solidFill>
                <a:latin typeface="DM Sans" pitchFamily="34" charset="0"/>
                <a:ea typeface="DM Sans" pitchFamily="34" charset="-122"/>
                <a:cs typeface="DM Sans" pitchFamily="34" charset="-120"/>
              </a:rPr>
              <a:t>On frequent and mid types, every method puts the right type in the top 5, every time.</a:t>
            </a:r>
            <a:endParaRPr lang="en-US" sz="1300" dirty="0"/>
          </a:p>
        </p:txBody>
      </p:sp>
      <p:sp>
        <p:nvSpPr>
          <p:cNvPr id="8" name="Shape 5"/>
          <p:cNvSpPr/>
          <p:nvPr/>
        </p:nvSpPr>
        <p:spPr>
          <a:xfrm>
            <a:off x="4394200" y="4422142"/>
            <a:ext cx="3403600" cy="1419860"/>
          </a:xfrm>
          <a:prstGeom prst="roundRect">
            <a:avLst>
              <a:gd name="adj" fmla="val 8945"/>
            </a:avLst>
          </a:prstGeom>
          <a:solidFill>
            <a:srgbClr val="FBF6F0"/>
          </a:solidFill>
          <a:ln/>
        </p:spPr>
      </p:sp>
      <p:sp>
        <p:nvSpPr>
          <p:cNvPr id="9" name="Text 6"/>
          <p:cNvSpPr/>
          <p:nvPr/>
        </p:nvSpPr>
        <p:spPr>
          <a:xfrm>
            <a:off x="4597400" y="4625342"/>
            <a:ext cx="3200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1611"/>
                </a:solidFill>
                <a:latin typeface="Syne" pitchFamily="18" charset="0"/>
                <a:ea typeface="Syne" pitchFamily="18" charset="-122"/>
                <a:cs typeface="Syne" pitchFamily="18" charset="-120"/>
              </a:rPr>
              <a:t>Embeddings find the topic</a:t>
            </a:r>
            <a:endParaRPr lang="en-US" sz="1600" dirty="0"/>
          </a:p>
        </p:txBody>
      </p:sp>
      <p:sp>
        <p:nvSpPr>
          <p:cNvPr id="10" name="Text 7"/>
          <p:cNvSpPr/>
          <p:nvPr/>
        </p:nvSpPr>
        <p:spPr>
          <a:xfrm>
            <a:off x="4597400" y="4945379"/>
            <a:ext cx="308711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4D41"/>
                </a:solidFill>
                <a:latin typeface="DM Sans" pitchFamily="34" charset="0"/>
                <a:ea typeface="DM Sans" pitchFamily="34" charset="-122"/>
                <a:cs typeface="DM Sans" pitchFamily="34" charset="-120"/>
              </a:rPr>
              <a:t>…not the clause type: the same near-synonym problem as in classification.</a:t>
            </a:r>
            <a:endParaRPr lang="en-US" sz="1300" dirty="0"/>
          </a:p>
        </p:txBody>
      </p:sp>
      <p:sp>
        <p:nvSpPr>
          <p:cNvPr id="11" name="Shape 8"/>
          <p:cNvSpPr/>
          <p:nvPr/>
        </p:nvSpPr>
        <p:spPr>
          <a:xfrm>
            <a:off x="7975600" y="4422142"/>
            <a:ext cx="3403600" cy="1419860"/>
          </a:xfrm>
          <a:prstGeom prst="roundRect">
            <a:avLst>
              <a:gd name="adj" fmla="val 8945"/>
            </a:avLst>
          </a:prstGeom>
          <a:solidFill>
            <a:srgbClr val="1F1611"/>
          </a:solidFill>
          <a:ln/>
        </p:spPr>
      </p:sp>
      <p:sp>
        <p:nvSpPr>
          <p:cNvPr id="12" name="Text 9"/>
          <p:cNvSpPr/>
          <p:nvPr/>
        </p:nvSpPr>
        <p:spPr>
          <a:xfrm>
            <a:off x="8178800" y="4625342"/>
            <a:ext cx="308711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6A1B"/>
                </a:solidFill>
                <a:latin typeface="Syne" pitchFamily="18" charset="0"/>
                <a:ea typeface="Syne" pitchFamily="18" charset="-122"/>
                <a:cs typeface="Syne" pitchFamily="18" charset="-120"/>
              </a:rPr>
              <a:t>Only 30 questions</a:t>
            </a:r>
            <a:endParaRPr lang="en-US" sz="1600" dirty="0"/>
          </a:p>
        </p:txBody>
      </p:sp>
      <p:sp>
        <p:nvSpPr>
          <p:cNvPr id="13" name="Text 10"/>
          <p:cNvSpPr/>
          <p:nvPr/>
        </p:nvSpPr>
        <p:spPr>
          <a:xfrm>
            <a:off x="8178800" y="4945379"/>
            <a:ext cx="308711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9DCCF"/>
                </a:solidFill>
                <a:latin typeface="DM Sans" pitchFamily="34" charset="0"/>
                <a:ea typeface="DM Sans" pitchFamily="34" charset="-122"/>
                <a:cs typeface="DM Sans" pitchFamily="34" charset="-120"/>
              </a:rPr>
              <a:t>One question is worth 3.3 points: a direction, not a final ranking.</a:t>
            </a:r>
            <a:endParaRPr lang="en-US" sz="1300" dirty="0"/>
          </a:p>
        </p:txBody>
      </p:sp>
      <p:sp>
        <p:nvSpPr>
          <p:cNvPr id="14" name="Text 11"/>
          <p:cNvSpPr/>
          <p:nvPr/>
        </p:nvSpPr>
        <p:spPr>
          <a:xfrm>
            <a:off x="812800" y="6238242"/>
            <a:ext cx="54262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564"/>
                </a:solidFill>
                <a:latin typeface="DM Sans" pitchFamily="34" charset="0"/>
                <a:ea typeface="DM Sans" pitchFamily="34" charset="-122"/>
                <a:cs typeface="DM Sans" pitchFamily="34" charset="-120"/>
              </a:rPr>
              <a:t>docs/queries.csv · results/retrieval/summary.csv · by_bucket.csv</a:t>
            </a:r>
            <a:endParaRPr lang="en-US" sz="1200" dirty="0"/>
          </a:p>
        </p:txBody>
      </p:sp>
      <p:sp>
        <p:nvSpPr>
          <p:cNvPr id="15" name="Text 1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564"/>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6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6A1B"/>
                </a:solidFill>
                <a:latin typeface="JetBrains Mono" pitchFamily="49" charset="0"/>
                <a:ea typeface="JetBrains Mono" pitchFamily="49" charset="-122"/>
                <a:cs typeface="JetBrains Mono" pitchFamily="49" charset="-120"/>
              </a:rPr>
              <a:t>AUDIT · FAILURE MODES</a:t>
            </a:r>
            <a:endParaRPr lang="en-US" sz="1200" dirty="0"/>
          </a:p>
        </p:txBody>
      </p:sp>
      <p:sp>
        <p:nvSpPr>
          <p:cNvPr id="3" name="Text 1"/>
          <p:cNvSpPr/>
          <p:nvPr>
            <p:ph type="title"/>
          </p:nvPr>
        </p:nvSpPr>
        <p:spPr>
          <a:xfrm>
            <a:off x="812800" y="1153164"/>
            <a:ext cx="10464800"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6F0"/>
                </a:solidFill>
                <a:latin typeface="Syne" pitchFamily="18" charset="0"/>
                <a:ea typeface="Syne" pitchFamily="18" charset="-122"/>
                <a:cs typeface="Syne" pitchFamily="18" charset="-120"/>
              </a:rPr>
              <a:t>Where the model must not be trusted on its own</a:t>
            </a:r>
            <a:endParaRPr lang="en-US" sz="3200" dirty="0"/>
          </a:p>
        </p:txBody>
      </p:sp>
      <p:sp>
        <p:nvSpPr>
          <p:cNvPr id="4" name="Shape 2"/>
          <p:cNvSpPr/>
          <p:nvPr/>
        </p:nvSpPr>
        <p:spPr>
          <a:xfrm>
            <a:off x="819150" y="2388871"/>
            <a:ext cx="5181600" cy="1628140"/>
          </a:xfrm>
          <a:prstGeom prst="roundRect">
            <a:avLst>
              <a:gd name="adj" fmla="val 7410"/>
            </a:avLst>
          </a:prstGeom>
          <a:solidFill>
            <a:srgbClr val="2E221B"/>
          </a:solidFill>
          <a:ln w="12700">
            <a:solidFill>
              <a:srgbClr val="F26A1B"/>
            </a:solidFill>
            <a:prstDash val="solid"/>
          </a:ln>
        </p:spPr>
      </p:sp>
      <p:sp>
        <p:nvSpPr>
          <p:cNvPr id="5" name="Text 3"/>
          <p:cNvSpPr/>
          <p:nvPr/>
        </p:nvSpPr>
        <p:spPr>
          <a:xfrm>
            <a:off x="1051560" y="2626364"/>
            <a:ext cx="543560" cy="264160"/>
          </a:xfrm>
          <a:custGeom>
            <a:avLst/>
            <a:gdLst/>
            <a:ahLst/>
            <a:cxnLst/>
            <a:rect l="l" t="t" r="r" b="b"/>
            <a:pathLst>
              <a:path w="543560" h="264160">
                <a:moveTo>
                  <a:pt x="132080" y="0"/>
                </a:moveTo>
                <a:lnTo>
                  <a:pt x="411480" y="0"/>
                </a:lnTo>
                <a:arcTo hR="132080" wR="132080" stAng="16200000" swAng="5400000"/>
                <a:lnTo>
                  <a:pt x="543560" y="132080"/>
                </a:lnTo>
                <a:arcTo hR="132080" wR="132080" stAng="0" swAng="5400000"/>
                <a:lnTo>
                  <a:pt x="132080" y="264160"/>
                </a:lnTo>
                <a:arcTo hR="132080" wR="132080" stAng="5400000" swAng="5400000"/>
                <a:lnTo>
                  <a:pt x="0" y="132080"/>
                </a:lnTo>
                <a:arcTo hR="132080" wR="132080" stAng="10800000" swAng="5400000"/>
                <a:close/>
              </a:path>
            </a:pathLst>
          </a:custGeom>
          <a:solidFill>
            <a:srgbClr val="F26A1B"/>
          </a:solidFill>
          <a:ln/>
        </p:spPr>
        <p:txBody>
          <a:bodyPr wrap="none" lIns="0" tIns="0" rIns="0" bIns="0" rtlCol="0" anchor="ctr">
            <a:normAutofit/>
          </a:bodyPr>
          <a:lstStyle/>
          <a:p>
            <a:pPr algn="ctr" indent="0" marL="0">
              <a:lnSpc>
                <a:spcPts val="1680"/>
              </a:lnSpc>
              <a:buNone/>
            </a:pPr>
            <a:r>
              <a:rPr lang="en-US" sz="1200" b="1" dirty="0">
                <a:solidFill>
                  <a:srgbClr val="1F1611"/>
                </a:solidFill>
                <a:latin typeface="JetBrains Mono" pitchFamily="49" charset="0"/>
                <a:ea typeface="JetBrains Mono" pitchFamily="49" charset="-122"/>
                <a:cs typeface="JetBrains Mono" pitchFamily="49" charset="-120"/>
              </a:rPr>
              <a:t>RISK</a:t>
            </a:r>
            <a:endParaRPr lang="en-US" sz="1200" dirty="0"/>
          </a:p>
        </p:txBody>
      </p:sp>
      <p:sp>
        <p:nvSpPr>
          <p:cNvPr id="6" name="Text 4"/>
          <p:cNvSpPr/>
          <p:nvPr/>
        </p:nvSpPr>
        <p:spPr>
          <a:xfrm>
            <a:off x="1722120" y="2621279"/>
            <a:ext cx="26776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6F0"/>
                </a:solidFill>
                <a:latin typeface="Syne" pitchFamily="18" charset="0"/>
                <a:ea typeface="Syne" pitchFamily="18" charset="-122"/>
                <a:cs typeface="Syne" pitchFamily="18" charset="-120"/>
              </a:rPr>
              <a:t>Rare clause types</a:t>
            </a:r>
            <a:endParaRPr lang="en-US" sz="1800" dirty="0"/>
          </a:p>
        </p:txBody>
      </p:sp>
      <p:sp>
        <p:nvSpPr>
          <p:cNvPr id="7" name="Text 5"/>
          <p:cNvSpPr/>
          <p:nvPr/>
        </p:nvSpPr>
        <p:spPr>
          <a:xfrm>
            <a:off x="1051560" y="2984500"/>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9DCCF"/>
                </a:solidFill>
                <a:latin typeface="DM Sans" pitchFamily="34" charset="0"/>
                <a:ea typeface="DM Sans" pitchFamily="34" charset="-122"/>
                <a:cs typeface="DM Sans" pitchFamily="34" charset="-120"/>
              </a:rPr>
              <a:t>78% accurate at 95% confidence: the largest overconfidence gap of any slice.</a:t>
            </a:r>
            <a:endParaRPr lang="en-US" sz="1400" dirty="0"/>
          </a:p>
        </p:txBody>
      </p:sp>
      <p:sp>
        <p:nvSpPr>
          <p:cNvPr id="8" name="Text 6"/>
          <p:cNvSpPr/>
          <p:nvPr/>
        </p:nvSpPr>
        <p:spPr>
          <a:xfrm>
            <a:off x="1051560" y="3571242"/>
            <a:ext cx="48582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A996"/>
                </a:solidFill>
                <a:latin typeface="JetBrains Mono" pitchFamily="49" charset="0"/>
                <a:ea typeface="JetBrains Mono" pitchFamily="49" charset="-122"/>
                <a:cs typeface="JetBrains Mono" pitchFamily="49" charset="-120"/>
              </a:rPr>
              <a:t>n = 1,625 clauses</a:t>
            </a:r>
            <a:endParaRPr lang="en-US" sz="1200" dirty="0"/>
          </a:p>
        </p:txBody>
      </p:sp>
      <p:sp>
        <p:nvSpPr>
          <p:cNvPr id="9" name="Shape 7"/>
          <p:cNvSpPr/>
          <p:nvPr/>
        </p:nvSpPr>
        <p:spPr>
          <a:xfrm>
            <a:off x="6191250" y="2388871"/>
            <a:ext cx="5181600" cy="1628140"/>
          </a:xfrm>
          <a:prstGeom prst="roundRect">
            <a:avLst>
              <a:gd name="adj" fmla="val 7410"/>
            </a:avLst>
          </a:prstGeom>
          <a:solidFill>
            <a:srgbClr val="2E221B"/>
          </a:solidFill>
          <a:ln w="12700">
            <a:solidFill>
              <a:srgbClr val="F26A1B"/>
            </a:solidFill>
            <a:prstDash val="solid"/>
          </a:ln>
        </p:spPr>
      </p:sp>
      <p:sp>
        <p:nvSpPr>
          <p:cNvPr id="10" name="Text 8"/>
          <p:cNvSpPr/>
          <p:nvPr/>
        </p:nvSpPr>
        <p:spPr>
          <a:xfrm>
            <a:off x="6423660" y="2626364"/>
            <a:ext cx="543560" cy="264160"/>
          </a:xfrm>
          <a:custGeom>
            <a:avLst/>
            <a:gdLst/>
            <a:ahLst/>
            <a:cxnLst/>
            <a:rect l="l" t="t" r="r" b="b"/>
            <a:pathLst>
              <a:path w="543560" h="264160">
                <a:moveTo>
                  <a:pt x="132080" y="0"/>
                </a:moveTo>
                <a:lnTo>
                  <a:pt x="411480" y="0"/>
                </a:lnTo>
                <a:arcTo hR="132080" wR="132080" stAng="16200000" swAng="5400000"/>
                <a:lnTo>
                  <a:pt x="543560" y="132080"/>
                </a:lnTo>
                <a:arcTo hR="132080" wR="132080" stAng="0" swAng="5400000"/>
                <a:lnTo>
                  <a:pt x="132080" y="264160"/>
                </a:lnTo>
                <a:arcTo hR="132080" wR="132080" stAng="5400000" swAng="5400000"/>
                <a:lnTo>
                  <a:pt x="0" y="132080"/>
                </a:lnTo>
                <a:arcTo hR="132080" wR="132080" stAng="10800000" swAng="5400000"/>
                <a:close/>
              </a:path>
            </a:pathLst>
          </a:custGeom>
          <a:solidFill>
            <a:srgbClr val="F26A1B"/>
          </a:solidFill>
          <a:ln/>
        </p:spPr>
        <p:txBody>
          <a:bodyPr wrap="none" lIns="0" tIns="0" rIns="0" bIns="0" rtlCol="0" anchor="ctr">
            <a:normAutofit/>
          </a:bodyPr>
          <a:lstStyle/>
          <a:p>
            <a:pPr algn="ctr" indent="0" marL="0">
              <a:lnSpc>
                <a:spcPts val="1680"/>
              </a:lnSpc>
              <a:buNone/>
            </a:pPr>
            <a:r>
              <a:rPr lang="en-US" sz="1200" b="1" dirty="0">
                <a:solidFill>
                  <a:srgbClr val="1F1611"/>
                </a:solidFill>
                <a:latin typeface="JetBrains Mono" pitchFamily="49" charset="0"/>
                <a:ea typeface="JetBrains Mono" pitchFamily="49" charset="-122"/>
                <a:cs typeface="JetBrains Mono" pitchFamily="49" charset="-120"/>
              </a:rPr>
              <a:t>RISK</a:t>
            </a:r>
            <a:endParaRPr lang="en-US" sz="1200" dirty="0"/>
          </a:p>
        </p:txBody>
      </p:sp>
      <p:sp>
        <p:nvSpPr>
          <p:cNvPr id="11" name="Text 9"/>
          <p:cNvSpPr/>
          <p:nvPr/>
        </p:nvSpPr>
        <p:spPr>
          <a:xfrm>
            <a:off x="7094220" y="2621279"/>
            <a:ext cx="35330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6F0"/>
                </a:solidFill>
                <a:latin typeface="Syne" pitchFamily="18" charset="0"/>
                <a:ea typeface="Syne" pitchFamily="18" charset="-122"/>
                <a:cs typeface="Syne" pitchFamily="18" charset="-120"/>
              </a:rPr>
              <a:t>Text that is not a clause</a:t>
            </a:r>
            <a:endParaRPr lang="en-US" sz="1800" dirty="0"/>
          </a:p>
        </p:txBody>
      </p:sp>
      <p:sp>
        <p:nvSpPr>
          <p:cNvPr id="12" name="Text 10"/>
          <p:cNvSpPr/>
          <p:nvPr/>
        </p:nvSpPr>
        <p:spPr>
          <a:xfrm>
            <a:off x="6423660" y="2984500"/>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9DCCF"/>
                </a:solidFill>
                <a:latin typeface="DM Sans" pitchFamily="34" charset="0"/>
                <a:ea typeface="DM Sans" pitchFamily="34" charset="-122"/>
                <a:cs typeface="DM Sans" pitchFamily="34" charset="-120"/>
              </a:rPr>
              <a:t>News, emails, French: mean confidence 0.47, yet 11% still score above 0.9.</a:t>
            </a:r>
            <a:endParaRPr lang="en-US" sz="1400" dirty="0"/>
          </a:p>
        </p:txBody>
      </p:sp>
      <p:sp>
        <p:nvSpPr>
          <p:cNvPr id="13" name="Text 11"/>
          <p:cNvSpPr/>
          <p:nvPr/>
        </p:nvSpPr>
        <p:spPr>
          <a:xfrm>
            <a:off x="6423660" y="3571242"/>
            <a:ext cx="48582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A996"/>
                </a:solidFill>
                <a:latin typeface="JetBrains Mono" pitchFamily="49" charset="0"/>
                <a:ea typeface="JetBrains Mono" pitchFamily="49" charset="-122"/>
                <a:cs typeface="JetBrains Mono" pitchFamily="49" charset="-120"/>
              </a:rPr>
              <a:t>n = 41 English + 9 French sentences</a:t>
            </a:r>
            <a:endParaRPr lang="en-US" sz="1200" dirty="0"/>
          </a:p>
        </p:txBody>
      </p:sp>
      <p:sp>
        <p:nvSpPr>
          <p:cNvPr id="14" name="Shape 12"/>
          <p:cNvSpPr/>
          <p:nvPr/>
        </p:nvSpPr>
        <p:spPr>
          <a:xfrm>
            <a:off x="819150" y="4207514"/>
            <a:ext cx="5181600" cy="1628140"/>
          </a:xfrm>
          <a:prstGeom prst="roundRect">
            <a:avLst>
              <a:gd name="adj" fmla="val 7410"/>
            </a:avLst>
          </a:prstGeom>
          <a:solidFill>
            <a:srgbClr val="2E221B"/>
          </a:solidFill>
          <a:ln w="12700">
            <a:solidFill>
              <a:srgbClr val="5A4537"/>
            </a:solidFill>
            <a:prstDash val="solid"/>
          </a:ln>
        </p:spPr>
      </p:sp>
      <p:sp>
        <p:nvSpPr>
          <p:cNvPr id="15" name="Text 13"/>
          <p:cNvSpPr/>
          <p:nvPr/>
        </p:nvSpPr>
        <p:spPr>
          <a:xfrm>
            <a:off x="1057910" y="4453892"/>
            <a:ext cx="342900" cy="246380"/>
          </a:xfrm>
          <a:custGeom>
            <a:avLst/>
            <a:gdLst/>
            <a:ahLst/>
            <a:cxnLst/>
            <a:rect l="l" t="t" r="r" b="b"/>
            <a:pathLst>
              <a:path w="342900" h="246380">
                <a:moveTo>
                  <a:pt x="123190" y="0"/>
                </a:moveTo>
                <a:lnTo>
                  <a:pt x="219710" y="0"/>
                </a:lnTo>
                <a:arcTo hR="123190" wR="123190" stAng="16200000" swAng="5400000"/>
                <a:lnTo>
                  <a:pt x="342900" y="123190"/>
                </a:lnTo>
                <a:arcTo hR="123190" wR="123190" stAng="0" swAng="5400000"/>
                <a:lnTo>
                  <a:pt x="123190" y="246380"/>
                </a:lnTo>
                <a:arcTo hR="123190" wR="123190" stAng="5400000" swAng="5400000"/>
                <a:lnTo>
                  <a:pt x="0" y="123190"/>
                </a:lnTo>
                <a:arcTo hR="123190" wR="123190" stAng="10800000" swAng="5400000"/>
                <a:close/>
              </a:path>
            </a:pathLst>
          </a:custGeom>
          <a:noFill/>
          <a:ln w="12700">
            <a:solidFill>
              <a:srgbClr val="FBF6F0"/>
            </a:solidFill>
            <a:prstDash val="solid"/>
          </a:ln>
        </p:spPr>
        <p:txBody>
          <a:bodyPr wrap="none" lIns="0" tIns="0" rIns="0" bIns="0" rtlCol="0" anchor="ctr">
            <a:normAutofit/>
          </a:bodyPr>
          <a:lstStyle/>
          <a:p>
            <a:pPr algn="ctr" indent="0" marL="0">
              <a:lnSpc>
                <a:spcPts val="1680"/>
              </a:lnSpc>
              <a:buNone/>
            </a:pPr>
            <a:r>
              <a:rPr lang="en-US" sz="1200" b="1" dirty="0">
                <a:solidFill>
                  <a:srgbClr val="FBF6F0"/>
                </a:solidFill>
                <a:latin typeface="JetBrains Mono" pitchFamily="49" charset="0"/>
                <a:ea typeface="JetBrains Mono" pitchFamily="49" charset="-122"/>
                <a:cs typeface="JetBrains Mono" pitchFamily="49" charset="-120"/>
              </a:rPr>
              <a:t>OK</a:t>
            </a:r>
            <a:endParaRPr lang="en-US" sz="1200" dirty="0"/>
          </a:p>
        </p:txBody>
      </p:sp>
      <p:sp>
        <p:nvSpPr>
          <p:cNvPr id="16" name="Text 14"/>
          <p:cNvSpPr/>
          <p:nvPr/>
        </p:nvSpPr>
        <p:spPr>
          <a:xfrm>
            <a:off x="1534160" y="4439921"/>
            <a:ext cx="196281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6F0"/>
                </a:solidFill>
                <a:latin typeface="Syne" pitchFamily="18" charset="0"/>
                <a:ea typeface="Syne" pitchFamily="18" charset="-122"/>
                <a:cs typeface="Syne" pitchFamily="18" charset="-120"/>
              </a:rPr>
              <a:t>Long clauses</a:t>
            </a:r>
            <a:endParaRPr lang="en-US" sz="1800" dirty="0"/>
          </a:p>
        </p:txBody>
      </p:sp>
      <p:sp>
        <p:nvSpPr>
          <p:cNvPr id="17" name="Text 15"/>
          <p:cNvSpPr/>
          <p:nvPr/>
        </p:nvSpPr>
        <p:spPr>
          <a:xfrm>
            <a:off x="1051560" y="4803142"/>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9DCCF"/>
                </a:solidFill>
                <a:latin typeface="DM Sans" pitchFamily="34" charset="0"/>
                <a:ea typeface="DM Sans" pitchFamily="34" charset="-122"/>
                <a:cs typeface="DM Sans" pitchFamily="34" charset="-120"/>
              </a:rPr>
              <a:t>Cutting at 256 tokens costs nothing: 90.3% accurate vs 88.2% on shorter clauses.</a:t>
            </a:r>
            <a:endParaRPr lang="en-US" sz="1400" dirty="0"/>
          </a:p>
        </p:txBody>
      </p:sp>
      <p:sp>
        <p:nvSpPr>
          <p:cNvPr id="18" name="Text 16"/>
          <p:cNvSpPr/>
          <p:nvPr/>
        </p:nvSpPr>
        <p:spPr>
          <a:xfrm>
            <a:off x="1051560" y="5389879"/>
            <a:ext cx="48582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A996"/>
                </a:solidFill>
                <a:latin typeface="JetBrains Mono" pitchFamily="49" charset="0"/>
                <a:ea typeface="JetBrains Mono" pitchFamily="49" charset="-122"/>
                <a:cs typeface="JetBrains Mono" pitchFamily="49" charset="-120"/>
              </a:rPr>
              <a:t>n = 1,083 clauses</a:t>
            </a:r>
            <a:endParaRPr lang="en-US" sz="1200" dirty="0"/>
          </a:p>
        </p:txBody>
      </p:sp>
      <p:sp>
        <p:nvSpPr>
          <p:cNvPr id="19" name="Shape 17"/>
          <p:cNvSpPr/>
          <p:nvPr/>
        </p:nvSpPr>
        <p:spPr>
          <a:xfrm>
            <a:off x="6191250" y="4207514"/>
            <a:ext cx="5181600" cy="1628140"/>
          </a:xfrm>
          <a:prstGeom prst="roundRect">
            <a:avLst>
              <a:gd name="adj" fmla="val 7410"/>
            </a:avLst>
          </a:prstGeom>
          <a:solidFill>
            <a:srgbClr val="2E221B"/>
          </a:solidFill>
          <a:ln w="12700">
            <a:solidFill>
              <a:srgbClr val="5A4537"/>
            </a:solidFill>
            <a:prstDash val="solid"/>
          </a:ln>
        </p:spPr>
      </p:sp>
      <p:sp>
        <p:nvSpPr>
          <p:cNvPr id="20" name="Text 18"/>
          <p:cNvSpPr/>
          <p:nvPr/>
        </p:nvSpPr>
        <p:spPr>
          <a:xfrm>
            <a:off x="6430010" y="4453892"/>
            <a:ext cx="342900" cy="246380"/>
          </a:xfrm>
          <a:custGeom>
            <a:avLst/>
            <a:gdLst/>
            <a:ahLst/>
            <a:cxnLst/>
            <a:rect l="l" t="t" r="r" b="b"/>
            <a:pathLst>
              <a:path w="342900" h="246380">
                <a:moveTo>
                  <a:pt x="123190" y="0"/>
                </a:moveTo>
                <a:lnTo>
                  <a:pt x="219710" y="0"/>
                </a:lnTo>
                <a:arcTo hR="123190" wR="123190" stAng="16200000" swAng="5400000"/>
                <a:lnTo>
                  <a:pt x="342900" y="123190"/>
                </a:lnTo>
                <a:arcTo hR="123190" wR="123190" stAng="0" swAng="5400000"/>
                <a:lnTo>
                  <a:pt x="123190" y="246380"/>
                </a:lnTo>
                <a:arcTo hR="123190" wR="123190" stAng="5400000" swAng="5400000"/>
                <a:lnTo>
                  <a:pt x="0" y="123190"/>
                </a:lnTo>
                <a:arcTo hR="123190" wR="123190" stAng="10800000" swAng="5400000"/>
                <a:close/>
              </a:path>
            </a:pathLst>
          </a:custGeom>
          <a:noFill/>
          <a:ln w="12700">
            <a:solidFill>
              <a:srgbClr val="FBF6F0"/>
            </a:solidFill>
            <a:prstDash val="solid"/>
          </a:ln>
        </p:spPr>
        <p:txBody>
          <a:bodyPr wrap="none" lIns="0" tIns="0" rIns="0" bIns="0" rtlCol="0" anchor="ctr">
            <a:normAutofit/>
          </a:bodyPr>
          <a:lstStyle/>
          <a:p>
            <a:pPr algn="ctr" indent="0" marL="0">
              <a:lnSpc>
                <a:spcPts val="1680"/>
              </a:lnSpc>
              <a:buNone/>
            </a:pPr>
            <a:r>
              <a:rPr lang="en-US" sz="1200" b="1" dirty="0">
                <a:solidFill>
                  <a:srgbClr val="FBF6F0"/>
                </a:solidFill>
                <a:latin typeface="JetBrains Mono" pitchFamily="49" charset="0"/>
                <a:ea typeface="JetBrains Mono" pitchFamily="49" charset="-122"/>
                <a:cs typeface="JetBrains Mono" pitchFamily="49" charset="-120"/>
              </a:rPr>
              <a:t>OK</a:t>
            </a:r>
            <a:endParaRPr lang="en-US" sz="1200" dirty="0"/>
          </a:p>
        </p:txBody>
      </p:sp>
      <p:sp>
        <p:nvSpPr>
          <p:cNvPr id="21" name="Text 19"/>
          <p:cNvSpPr/>
          <p:nvPr/>
        </p:nvSpPr>
        <p:spPr>
          <a:xfrm>
            <a:off x="6906260" y="4439921"/>
            <a:ext cx="21021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6F0"/>
                </a:solidFill>
                <a:latin typeface="Syne" pitchFamily="18" charset="0"/>
                <a:ea typeface="Syne" pitchFamily="18" charset="-122"/>
                <a:cs typeface="Syne" pitchFamily="18" charset="-120"/>
              </a:rPr>
              <a:t>Memorisation</a:t>
            </a:r>
            <a:endParaRPr lang="en-US" sz="1800" dirty="0"/>
          </a:p>
        </p:txBody>
      </p:sp>
      <p:sp>
        <p:nvSpPr>
          <p:cNvPr id="22" name="Text 20"/>
          <p:cNvSpPr/>
          <p:nvPr/>
        </p:nvSpPr>
        <p:spPr>
          <a:xfrm>
            <a:off x="6423660" y="4803142"/>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9DCCF"/>
                </a:solidFill>
                <a:latin typeface="DM Sans" pitchFamily="34" charset="0"/>
                <a:ea typeface="DM Sans" pitchFamily="34" charset="-122"/>
                <a:cs typeface="DM Sans" pitchFamily="34" charset="-120"/>
              </a:rPr>
              <a:t>Removing test clauses seen in training costs both models the same 0.3–0.4 pt.</a:t>
            </a:r>
            <a:endParaRPr lang="en-US" sz="1400" dirty="0"/>
          </a:p>
        </p:txBody>
      </p:sp>
      <p:sp>
        <p:nvSpPr>
          <p:cNvPr id="23" name="Text 21"/>
          <p:cNvSpPr/>
          <p:nvPr/>
        </p:nvSpPr>
        <p:spPr>
          <a:xfrm>
            <a:off x="6423660" y="5389879"/>
            <a:ext cx="48582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A996"/>
                </a:solidFill>
                <a:latin typeface="JetBrains Mono" pitchFamily="49" charset="0"/>
                <a:ea typeface="JetBrains Mono" pitchFamily="49" charset="-122"/>
                <a:cs typeface="JetBrains Mono" pitchFamily="49" charset="-120"/>
              </a:rPr>
              <a:t>n = 282 duplicates</a:t>
            </a:r>
            <a:endParaRPr lang="en-US" sz="1200" dirty="0"/>
          </a:p>
        </p:txBody>
      </p:sp>
      <p:sp>
        <p:nvSpPr>
          <p:cNvPr id="24" name="Text 22"/>
          <p:cNvSpPr/>
          <p:nvPr/>
        </p:nvSpPr>
        <p:spPr>
          <a:xfrm>
            <a:off x="812800" y="6238242"/>
            <a:ext cx="66365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A996"/>
                </a:solidFill>
                <a:latin typeface="DM Sans" pitchFamily="34" charset="0"/>
                <a:ea typeface="DM Sans" pitchFamily="34" charset="-122"/>
                <a:cs typeface="DM Sans" pitchFamily="34" charset="-120"/>
              </a:rPr>
              <a:t>Mean of 3 Legal-BERT runs (local GPU) · results/audit/ · docs/out_of_scope.txt</a:t>
            </a:r>
            <a:endParaRPr lang="en-US" sz="1200" dirty="0"/>
          </a:p>
        </p:txBody>
      </p:sp>
      <p:sp>
        <p:nvSpPr>
          <p:cNvPr id="25" name="Text 2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A996"/>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19869"/>
          </a:xfrm>
          <a:prstGeom prst="rect">
            <a:avLst/>
          </a:prstGeom>
          <a:noFill/>
          <a:ln/>
        </p:spPr>
        <p:txBody>
          <a:bodyPr wrap="square" lIns="0" tIns="0" rIns="0" bIns="0" rtlCol="0" anchor="t">
            <a:normAutofit/>
          </a:bodyPr>
          <a:lstStyle/>
          <a:p>
            <a:pPr algn="l" indent="0" marL="0">
              <a:lnSpc>
                <a:spcPts val="1570"/>
              </a:lnSpc>
              <a:buNone/>
            </a:pPr>
            <a:r>
              <a:rPr lang="en-US" sz="1121" spc="200" kern="0" dirty="0">
                <a:solidFill>
                  <a:srgbClr val="B8460F"/>
                </a:solidFill>
                <a:latin typeface="JetBrains Mono" pitchFamily="49" charset="0"/>
                <a:ea typeface="JetBrains Mono" pitchFamily="49" charset="-122"/>
                <a:cs typeface="JetBrains Mono" pitchFamily="49" charset="-120"/>
              </a:rPr>
              <a:t>AUDIT · PARTIES AND KINDS OF CONTRACT</a:t>
            </a:r>
            <a:endParaRPr lang="en-US" sz="1121" dirty="0"/>
          </a:p>
        </p:txBody>
      </p:sp>
      <p:sp>
        <p:nvSpPr>
          <p:cNvPr id="3" name="Text 1"/>
          <p:cNvSpPr/>
          <p:nvPr>
            <p:ph type="title"/>
          </p:nvPr>
        </p:nvSpPr>
        <p:spPr>
          <a:xfrm>
            <a:off x="812800" y="1134269"/>
            <a:ext cx="10883392" cy="840502"/>
          </a:xfrm>
          <a:prstGeom prst="rect">
            <a:avLst/>
          </a:prstGeom>
          <a:noFill/>
          <a:ln/>
        </p:spPr>
        <p:txBody>
          <a:bodyPr wrap="square" lIns="0" tIns="0" rIns="0" bIns="0" rtlCol="0" anchor="t">
            <a:normAutofit/>
          </a:bodyPr>
          <a:lstStyle/>
          <a:p>
            <a:pPr algn="l" indent="0" marL="0">
              <a:lnSpc>
                <a:spcPts val="3212"/>
              </a:lnSpc>
              <a:buNone/>
            </a:pPr>
            <a:r>
              <a:rPr lang="en-US" sz="2920" b="1" i="0" dirty="0">
                <a:solidFill>
                  <a:srgbClr val="1F1611"/>
                </a:solidFill>
                <a:latin typeface="Syne" pitchFamily="18" charset="0"/>
                <a:ea typeface="Syne" pitchFamily="18" charset="-122"/>
                <a:cs typeface="Syne" pitchFamily="18" charset="-120"/>
              </a:rPr>
              <a:t>Neutral to who signs; weakest on leases</a:t>
            </a:r>
            <a:endParaRPr lang="en-US" sz="2920" dirty="0"/>
          </a:p>
        </p:txBody>
      </p:sp>
      <p:sp>
        <p:nvSpPr>
          <p:cNvPr id="4" name="Text 2"/>
          <p:cNvSpPr/>
          <p:nvPr/>
        </p:nvSpPr>
        <p:spPr>
          <a:xfrm>
            <a:off x="812800" y="2152569"/>
            <a:ext cx="5624830" cy="247174"/>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1F1611"/>
                </a:solidFill>
                <a:latin typeface="DM Sans" pitchFamily="34" charset="0"/>
                <a:ea typeface="DM Sans" pitchFamily="34" charset="-122"/>
                <a:cs typeface="DM Sans" pitchFamily="34" charset="-120"/>
              </a:rPr>
              <a:t>Change only one detail: does the clause type change?</a:t>
            </a:r>
            <a:endParaRPr lang="en-US" sz="1268"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486108"/>
          <a:ext cx="5450840" cy="2498487"/>
        </p:xfrm>
        <a:graphic>
          <a:graphicData uri="http://schemas.openxmlformats.org/drawingml/2006/table">
            <a:tbl>
              <a:tblPr/>
              <a:tblGrid>
                <a:gridCol w="2507386"/>
                <a:gridCol w="763118"/>
                <a:gridCol w="1090168"/>
                <a:gridCol w="1090168"/>
              </a:tblGrid>
              <a:tr h="378857">
                <a:tc>
                  <a:txBody>
                    <a:bodyPr/>
                    <a:lstStyle/>
                    <a:p>
                      <a:pPr indent="0" marL="0">
                        <a:lnSpc>
                          <a:spcPts val="1774"/>
                        </a:lnSpc>
                        <a:buNone/>
                      </a:pPr>
                      <a:r>
                        <a:rPr lang="en-US" sz="1268" b="1" dirty="0">
                          <a:solidFill>
                            <a:srgbClr val="5E4D41"/>
                          </a:solidFill>
                          <a:latin typeface="DM Sans" pitchFamily="34" charset="0"/>
                          <a:ea typeface="DM Sans" pitchFamily="34" charset="-122"/>
                          <a:cs typeface="DM Sans" pitchFamily="34" charset="-120"/>
                        </a:rPr>
                        <a:t>Change</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algn="r" indent="0" marL="0">
                        <a:lnSpc>
                          <a:spcPts val="1774"/>
                        </a:lnSpc>
                        <a:buNone/>
                      </a:pPr>
                      <a:r>
                        <a:rPr lang="en-US" sz="1268" b="1" dirty="0">
                          <a:solidFill>
                            <a:srgbClr val="5E4D41"/>
                          </a:solidFill>
                          <a:latin typeface="DM Sans" pitchFamily="34" charset="0"/>
                          <a:ea typeface="DM Sans" pitchFamily="34" charset="-122"/>
                          <a:cs typeface="DM Sans" pitchFamily="34" charset="-120"/>
                        </a:rPr>
                        <a:t>n</a:t>
                      </a:r>
                      <a:endParaRPr lang="en-US" sz="1268" dirty="0">
                        <a:latin typeface="DM Sans" charset="0"/>
                        <a:ea typeface="DM Sans" charset="0"/>
                        <a:cs typeface="DM Sans" charset="0"/>
                      </a:endParaRPr>
                    </a:p>
                  </a:txBody>
                  <a:tcPr marL="56340" marR="56340" marT="56340" marB="56340"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algn="r" indent="0" marL="0">
                        <a:lnSpc>
                          <a:spcPts val="1774"/>
                        </a:lnSpc>
                        <a:buNone/>
                      </a:pPr>
                      <a:r>
                        <a:rPr lang="en-US" sz="1268" b="1" dirty="0">
                          <a:solidFill>
                            <a:srgbClr val="5E4D41"/>
                          </a:solidFill>
                          <a:latin typeface="DM Sans" pitchFamily="34" charset="0"/>
                          <a:ea typeface="DM Sans" pitchFamily="34" charset="-122"/>
                          <a:cs typeface="DM Sans" pitchFamily="34" charset="-120"/>
                        </a:rPr>
                        <a:t>Legal-BERT</a:t>
                      </a:r>
                      <a:endParaRPr lang="en-US" sz="1268" dirty="0">
                        <a:latin typeface="DM Sans" charset="0"/>
                        <a:ea typeface="DM Sans" charset="0"/>
                        <a:cs typeface="DM Sans" charset="0"/>
                      </a:endParaRPr>
                    </a:p>
                  </a:txBody>
                  <a:tcPr marL="56340" marR="56340" marT="56340" marB="56340"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c>
                  <a:txBody>
                    <a:bodyPr/>
                    <a:lstStyle/>
                    <a:p>
                      <a:pPr algn="r" indent="0" marL="0">
                        <a:lnSpc>
                          <a:spcPts val="1774"/>
                        </a:lnSpc>
                        <a:buNone/>
                      </a:pPr>
                      <a:r>
                        <a:rPr lang="en-US" sz="1268" b="1" dirty="0">
                          <a:solidFill>
                            <a:srgbClr val="5E4D41"/>
                          </a:solidFill>
                          <a:latin typeface="DM Sans" pitchFamily="34" charset="0"/>
                          <a:ea typeface="DM Sans" pitchFamily="34" charset="-122"/>
                          <a:cs typeface="DM Sans" pitchFamily="34" charset="-120"/>
                        </a:rPr>
                        <a:t>Ensemble</a:t>
                      </a:r>
                      <a:endParaRPr lang="en-US" sz="1268" dirty="0">
                        <a:latin typeface="DM Sans" charset="0"/>
                        <a:ea typeface="DM Sans" charset="0"/>
                        <a:cs typeface="DM Sans" charset="0"/>
                      </a:endParaRPr>
                    </a:p>
                  </a:txBody>
                  <a:tcPr marL="56340" marR="56340" marT="56340" marB="56340" anchor="t">
                    <a:lnL w="12700" cap="flat" cmpd="sng" algn="ctr">
                      <a:solidFill>
                        <a:srgbClr val="BAB6B1"/>
                      </a:solidFill>
                      <a:prstDash val="solid"/>
                      <a:round/>
                      <a:headEnd type="none" w="med" len="med"/>
                      <a:tailEnd type="none" w="med" len="med"/>
                    </a:lnL>
                    <a:lnR w="12700" cap="flat" cmpd="sng" algn="ctr">
                      <a:solidFill>
                        <a:srgbClr val="BAB6B1"/>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BAB6B1"/>
                      </a:solidFill>
                      <a:prstDash val="solid"/>
                      <a:round/>
                      <a:headEnd type="none" w="med" len="med"/>
                      <a:tailEnd type="none" w="med" len="med"/>
                    </a:lnB>
                    <a:solidFill>
                      <a:srgbClr val="E9E4DE"/>
                    </a:solidFill>
                  </a:tcPr>
                </a:tc>
              </a:tr>
              <a:tr h="378857">
                <a:tc>
                  <a:txBody>
                    <a:bodyPr/>
                    <a:lstStyle/>
                    <a:p>
                      <a:pPr indent="0" marL="0">
                        <a:lnSpc>
                          <a:spcPts val="1774"/>
                        </a:lnSpc>
                        <a:buNone/>
                      </a:pPr>
                      <a:r>
                        <a:rPr lang="en-US" sz="1268" dirty="0">
                          <a:solidFill>
                            <a:srgbClr val="1F1611"/>
                          </a:solidFill>
                          <a:latin typeface="DM Sans" pitchFamily="34" charset="0"/>
                          <a:ea typeface="DM Sans" pitchFamily="34" charset="-122"/>
                          <a:cs typeface="DM Sans" pitchFamily="34" charset="-120"/>
                        </a:rPr>
                        <a:t>Gender: he → she</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400</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0.2%</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1.2%</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BAB6B1"/>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604203">
                <a:tc>
                  <a:txBody>
                    <a:bodyPr/>
                    <a:lstStyle/>
                    <a:p>
                      <a:pPr indent="0" marL="0">
                        <a:lnSpc>
                          <a:spcPts val="1774"/>
                        </a:lnSpc>
                        <a:buNone/>
                      </a:pPr>
                      <a:r>
                        <a:rPr lang="en-US" sz="1268" dirty="0">
                          <a:solidFill>
                            <a:srgbClr val="1F1611"/>
                          </a:solidFill>
                          <a:latin typeface="DM Sans" pitchFamily="34" charset="0"/>
                          <a:ea typeface="DM Sans" pitchFamily="34" charset="-122"/>
                          <a:cs typeface="DM Sans" pitchFamily="34" charset="-120"/>
                        </a:rPr>
                        <a:t>Party: role → 5 names</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5 × 400</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3.2–3.8%</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2.2–3.8%</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78857">
                <a:tc>
                  <a:txBody>
                    <a:bodyPr/>
                    <a:lstStyle/>
                    <a:p>
                      <a:pPr indent="0" marL="0">
                        <a:lnSpc>
                          <a:spcPts val="1774"/>
                        </a:lnSpc>
                        <a:buNone/>
                      </a:pPr>
                      <a:r>
                        <a:rPr lang="en-US" sz="1268" dirty="0">
                          <a:solidFill>
                            <a:srgbClr val="1F1611"/>
                          </a:solidFill>
                          <a:latin typeface="DM Sans" pitchFamily="34" charset="0"/>
                          <a:ea typeface="DM Sans" pitchFamily="34" charset="-122"/>
                          <a:cs typeface="DM Sans" pitchFamily="34" charset="-120"/>
                        </a:rPr>
                        <a:t>Law: US → DE, FR, UK</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400</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0.8–3.8%</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1.0–1.2%</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r h="378857">
                <a:tc>
                  <a:txBody>
                    <a:bodyPr/>
                    <a:lstStyle/>
                    <a:p>
                      <a:pPr indent="0" marL="0">
                        <a:lnSpc>
                          <a:spcPts val="1774"/>
                        </a:lnSpc>
                        <a:buNone/>
                      </a:pPr>
                      <a:r>
                        <a:rPr lang="en-US" sz="1268" dirty="0">
                          <a:solidFill>
                            <a:srgbClr val="1F1611"/>
                          </a:solidFill>
                          <a:latin typeface="DM Sans" pitchFamily="34" charset="0"/>
                          <a:ea typeface="DM Sans" pitchFamily="34" charset="-122"/>
                          <a:cs typeface="DM Sans" pitchFamily="34" charset="-120"/>
                        </a:rPr>
                        <a:t>…on Governing Laws</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203</a:t>
                      </a:r>
                      <a:endParaRPr lang="en-US" sz="1268" dirty="0">
                        <a:latin typeface="DM Sans" charset="0"/>
                        <a:ea typeface="DM Sans" charset="0"/>
                        <a:cs typeface="DM Sans" charset="0"/>
                      </a:endParaRPr>
                    </a:p>
                  </a:txBody>
                  <a:tcPr marL="56340" marR="56340" marT="56340" marB="56340" anchor="t">
                    <a:lnL w="12700" cap="flat" cmpd="sng" algn="ctr">
                      <a:solidFill>
                        <a:srgbClr val="CBB5A6"/>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0–1.5%</a:t>
                      </a:r>
                      <a:endParaRPr lang="en-US" sz="1268" dirty="0">
                        <a:latin typeface="DM Sans" charset="0"/>
                        <a:ea typeface="DM Sans" charset="0"/>
                        <a:cs typeface="DM Sans" charset="0"/>
                      </a:endParaRPr>
                    </a:p>
                  </a:txBody>
                  <a:tcPr marL="56340" marR="56340" marT="56340" marB="56340" anchor="t">
                    <a:lnL w="12700" cap="flat" cmpd="sng" algn="ctr">
                      <a:solidFill>
                        <a:srgbClr val="CBB5A6"/>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0–1.0%</a:t>
                      </a:r>
                      <a:endParaRPr lang="en-US" sz="1268" dirty="0">
                        <a:latin typeface="DM Sans" charset="0"/>
                        <a:ea typeface="DM Sans" charset="0"/>
                        <a:cs typeface="DM Sans" charset="0"/>
                      </a:endParaRPr>
                    </a:p>
                  </a:txBody>
                  <a:tcPr marL="56340" marR="56340" marT="56340" marB="56340" anchor="t">
                    <a:lnL w="12700" cap="flat" cmpd="sng" algn="ctr">
                      <a:solidFill>
                        <a:srgbClr val="CBB5A6"/>
                      </a:solidFill>
                      <a:prstDash val="solid"/>
                      <a:round/>
                      <a:headEnd type="none" w="med" len="med"/>
                      <a:tailEnd type="none" w="med" len="med"/>
                    </a:lnL>
                    <a:lnR w="12700" cap="flat" cmpd="sng" algn="ctr">
                      <a:solidFill>
                        <a:srgbClr val="CBB5A6"/>
                      </a:solidFill>
                      <a:prstDash val="solid"/>
                      <a:round/>
                      <a:headEnd type="none" w="med" len="med"/>
                      <a:tailEnd type="none" w="med" len="med"/>
                    </a:lnR>
                    <a:lnT w="12700" cap="flat" cmpd="sng" algn="ctr">
                      <a:solidFill>
                        <a:srgbClr val="C8C4BF"/>
                      </a:solidFill>
                      <a:prstDash val="solid"/>
                      <a:round/>
                      <a:headEnd type="none" w="med" len="med"/>
                      <a:tailEnd type="none" w="med" len="med"/>
                    </a:lnT>
                    <a:lnB w="12700" cap="flat" cmpd="sng" algn="ctr">
                      <a:solidFill>
                        <a:srgbClr val="CBB5A6"/>
                      </a:solidFill>
                      <a:prstDash val="solid"/>
                      <a:round/>
                      <a:headEnd type="none" w="med" len="med"/>
                      <a:tailEnd type="none" w="med" len="med"/>
                    </a:lnB>
                    <a:solidFill>
                      <a:srgbClr val="FFE3CF"/>
                    </a:solidFill>
                  </a:tcPr>
                </a:tc>
              </a:tr>
              <a:tr h="378857">
                <a:tc>
                  <a:txBody>
                    <a:bodyPr/>
                    <a:lstStyle/>
                    <a:p>
                      <a:pPr indent="0" marL="0">
                        <a:lnSpc>
                          <a:spcPts val="1774"/>
                        </a:lnSpc>
                        <a:buNone/>
                      </a:pPr>
                      <a:r>
                        <a:rPr lang="en-US" sz="1268" dirty="0">
                          <a:solidFill>
                            <a:srgbClr val="1F1611"/>
                          </a:solidFill>
                          <a:latin typeface="DM Sans" pitchFamily="34" charset="0"/>
                          <a:ea typeface="DM Sans" pitchFamily="34" charset="-122"/>
                          <a:cs typeface="DM Sans" pitchFamily="34" charset="-120"/>
                        </a:rPr>
                        <a:t>Currency: $ → €</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BB5A6"/>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376</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BB5A6"/>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1.1%</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BB5A6"/>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c>
                  <a:txBody>
                    <a:bodyPr/>
                    <a:lstStyle/>
                    <a:p>
                      <a:pPr algn="r" indent="0" marL="0">
                        <a:lnSpc>
                          <a:spcPts val="1774"/>
                        </a:lnSpc>
                        <a:buNone/>
                      </a:pPr>
                      <a:r>
                        <a:rPr lang="en-US" sz="1268" dirty="0">
                          <a:solidFill>
                            <a:srgbClr val="1F1611"/>
                          </a:solidFill>
                          <a:latin typeface="DM Sans" pitchFamily="34" charset="0"/>
                          <a:ea typeface="DM Sans" pitchFamily="34" charset="-122"/>
                          <a:cs typeface="DM Sans" pitchFamily="34" charset="-120"/>
                        </a:rPr>
                        <a:t>0.8%</a:t>
                      </a:r>
                      <a:endParaRPr lang="en-US" sz="1268" dirty="0">
                        <a:latin typeface="DM Sans" charset="0"/>
                        <a:ea typeface="DM Sans" charset="0"/>
                        <a:cs typeface="DM Sans" charset="0"/>
                      </a:endParaRPr>
                    </a:p>
                  </a:txBody>
                  <a:tcPr marL="56340" marR="56340" marT="56340" marB="56340" anchor="t">
                    <a:lnL w="12700" cap="flat" cmpd="sng" algn="ctr">
                      <a:solidFill>
                        <a:srgbClr val="C8C4BF"/>
                      </a:solidFill>
                      <a:prstDash val="solid"/>
                      <a:round/>
                      <a:headEnd type="none" w="med" len="med"/>
                      <a:tailEnd type="none" w="med" len="med"/>
                    </a:lnL>
                    <a:lnR w="12700" cap="flat" cmpd="sng" algn="ctr">
                      <a:solidFill>
                        <a:srgbClr val="C8C4BF"/>
                      </a:solidFill>
                      <a:prstDash val="solid"/>
                      <a:round/>
                      <a:headEnd type="none" w="med" len="med"/>
                      <a:tailEnd type="none" w="med" len="med"/>
                    </a:lnR>
                    <a:lnT w="12700" cap="flat" cmpd="sng" algn="ctr">
                      <a:solidFill>
                        <a:srgbClr val="CBB5A6"/>
                      </a:solidFill>
                      <a:prstDash val="solid"/>
                      <a:round/>
                      <a:headEnd type="none" w="med" len="med"/>
                      <a:tailEnd type="none" w="med" len="med"/>
                    </a:lnT>
                    <a:lnB w="12700" cap="flat" cmpd="sng" algn="ctr">
                      <a:solidFill>
                        <a:srgbClr val="C8C4BF"/>
                      </a:solidFill>
                      <a:prstDash val="solid"/>
                      <a:round/>
                      <a:headEnd type="none" w="med" len="med"/>
                      <a:tailEnd type="none" w="med" len="med"/>
                    </a:lnB>
                  </a:tcPr>
                </a:tc>
              </a:tr>
            </a:tbl>
          </a:graphicData>
        </a:graphic>
      </p:graphicFrame>
      <p:sp>
        <p:nvSpPr>
          <p:cNvPr id="6" name="Text 3"/>
          <p:cNvSpPr/>
          <p:nvPr/>
        </p:nvSpPr>
        <p:spPr>
          <a:xfrm>
            <a:off x="6731000" y="2152569"/>
            <a:ext cx="4787646" cy="231775"/>
          </a:xfrm>
          <a:prstGeom prst="rect">
            <a:avLst/>
          </a:prstGeom>
          <a:noFill/>
          <a:ln/>
        </p:spPr>
        <p:txBody>
          <a:bodyPr wrap="square" lIns="0" tIns="0" rIns="0" bIns="0" rtlCol="0" anchor="t">
            <a:normAutofit/>
          </a:bodyPr>
          <a:lstStyle/>
          <a:p>
            <a:pPr algn="l" indent="0" marL="0">
              <a:lnSpc>
                <a:spcPts val="1672"/>
              </a:lnSpc>
              <a:buNone/>
            </a:pPr>
            <a:r>
              <a:rPr lang="en-US" sz="1194" b="1" dirty="0">
                <a:solidFill>
                  <a:srgbClr val="1F1611"/>
                </a:solidFill>
                <a:latin typeface="DM Sans" pitchFamily="34" charset="0"/>
                <a:ea typeface="DM Sans" pitchFamily="34" charset="-122"/>
                <a:cs typeface="DM Sans" pitchFamily="34" charset="-120"/>
              </a:rPr>
              <a:t>Legal-BERT accuracy by kind of contract</a:t>
            </a:r>
            <a:endParaRPr lang="en-US" sz="1194" dirty="0"/>
          </a:p>
        </p:txBody>
      </p:sp>
      <p:sp>
        <p:nvSpPr>
          <p:cNvPr id="7" name="Text 4"/>
          <p:cNvSpPr/>
          <p:nvPr/>
        </p:nvSpPr>
        <p:spPr>
          <a:xfrm>
            <a:off x="6731000" y="2460867"/>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M&amp;A</a:t>
            </a:r>
            <a:endParaRPr lang="en-US" sz="1300" dirty="0"/>
          </a:p>
        </p:txBody>
      </p:sp>
      <p:sp>
        <p:nvSpPr>
          <p:cNvPr id="8" name="Shape 5"/>
          <p:cNvSpPr/>
          <p:nvPr/>
        </p:nvSpPr>
        <p:spPr>
          <a:xfrm>
            <a:off x="8737600" y="2474757"/>
            <a:ext cx="1981200" cy="203200"/>
          </a:xfrm>
          <a:prstGeom prst="roundRect">
            <a:avLst>
              <a:gd name="adj" fmla="val 18750"/>
            </a:avLst>
          </a:prstGeom>
          <a:solidFill>
            <a:srgbClr val="F7A06B"/>
          </a:solidFill>
          <a:ln/>
        </p:spPr>
      </p:sp>
      <p:sp>
        <p:nvSpPr>
          <p:cNvPr id="9" name="Text 6"/>
          <p:cNvSpPr/>
          <p:nvPr/>
        </p:nvSpPr>
        <p:spPr>
          <a:xfrm>
            <a:off x="10820400" y="2460867"/>
            <a:ext cx="55025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91.8%</a:t>
            </a:r>
            <a:endParaRPr lang="en-US" sz="1300" dirty="0"/>
          </a:p>
        </p:txBody>
      </p:sp>
      <p:sp>
        <p:nvSpPr>
          <p:cNvPr id="10" name="Text 7"/>
          <p:cNvSpPr/>
          <p:nvPr/>
        </p:nvSpPr>
        <p:spPr>
          <a:xfrm>
            <a:off x="6731000" y="2781461"/>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Credit / loan</a:t>
            </a:r>
            <a:endParaRPr lang="en-US" sz="1300" dirty="0"/>
          </a:p>
        </p:txBody>
      </p:sp>
      <p:sp>
        <p:nvSpPr>
          <p:cNvPr id="11" name="Shape 8"/>
          <p:cNvSpPr/>
          <p:nvPr/>
        </p:nvSpPr>
        <p:spPr>
          <a:xfrm>
            <a:off x="8737600" y="2795432"/>
            <a:ext cx="1962150" cy="203200"/>
          </a:xfrm>
          <a:prstGeom prst="roundRect">
            <a:avLst>
              <a:gd name="adj" fmla="val 18750"/>
            </a:avLst>
          </a:prstGeom>
          <a:solidFill>
            <a:srgbClr val="F7A06B"/>
          </a:solidFill>
          <a:ln/>
        </p:spPr>
      </p:sp>
      <p:sp>
        <p:nvSpPr>
          <p:cNvPr id="12" name="Text 9"/>
          <p:cNvSpPr/>
          <p:nvPr/>
        </p:nvSpPr>
        <p:spPr>
          <a:xfrm>
            <a:off x="10801350" y="2781461"/>
            <a:ext cx="60550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90.9%</a:t>
            </a:r>
            <a:endParaRPr lang="en-US" sz="1300" dirty="0"/>
          </a:p>
        </p:txBody>
      </p:sp>
      <p:sp>
        <p:nvSpPr>
          <p:cNvPr id="13" name="Text 10"/>
          <p:cNvSpPr/>
          <p:nvPr/>
        </p:nvSpPr>
        <p:spPr>
          <a:xfrm>
            <a:off x="6731000" y="3102136"/>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Licence / IP</a:t>
            </a:r>
            <a:endParaRPr lang="en-US" sz="1300" dirty="0"/>
          </a:p>
        </p:txBody>
      </p:sp>
      <p:sp>
        <p:nvSpPr>
          <p:cNvPr id="14" name="Shape 11"/>
          <p:cNvSpPr/>
          <p:nvPr/>
        </p:nvSpPr>
        <p:spPr>
          <a:xfrm>
            <a:off x="8737600" y="3116107"/>
            <a:ext cx="1943100" cy="203200"/>
          </a:xfrm>
          <a:prstGeom prst="roundRect">
            <a:avLst>
              <a:gd name="adj" fmla="val 18750"/>
            </a:avLst>
          </a:prstGeom>
          <a:solidFill>
            <a:srgbClr val="F7A06B"/>
          </a:solidFill>
          <a:ln/>
        </p:spPr>
      </p:sp>
      <p:sp>
        <p:nvSpPr>
          <p:cNvPr id="15" name="Text 12"/>
          <p:cNvSpPr/>
          <p:nvPr/>
        </p:nvSpPr>
        <p:spPr>
          <a:xfrm>
            <a:off x="10782300" y="3102136"/>
            <a:ext cx="61741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90.0%</a:t>
            </a:r>
            <a:endParaRPr lang="en-US" sz="1300" dirty="0"/>
          </a:p>
        </p:txBody>
      </p:sp>
      <p:sp>
        <p:nvSpPr>
          <p:cNvPr id="16" name="Text 13"/>
          <p:cNvSpPr/>
          <p:nvPr/>
        </p:nvSpPr>
        <p:spPr>
          <a:xfrm>
            <a:off x="6731000" y="3422811"/>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Securities</a:t>
            </a:r>
            <a:endParaRPr lang="en-US" sz="1300" dirty="0"/>
          </a:p>
        </p:txBody>
      </p:sp>
      <p:sp>
        <p:nvSpPr>
          <p:cNvPr id="17" name="Shape 14"/>
          <p:cNvSpPr/>
          <p:nvPr/>
        </p:nvSpPr>
        <p:spPr>
          <a:xfrm>
            <a:off x="8737600" y="3436782"/>
            <a:ext cx="1905000" cy="203200"/>
          </a:xfrm>
          <a:prstGeom prst="roundRect">
            <a:avLst>
              <a:gd name="adj" fmla="val 18750"/>
            </a:avLst>
          </a:prstGeom>
          <a:solidFill>
            <a:srgbClr val="F7A06B"/>
          </a:solidFill>
          <a:ln/>
        </p:spPr>
      </p:sp>
      <p:sp>
        <p:nvSpPr>
          <p:cNvPr id="18" name="Text 15"/>
          <p:cNvSpPr/>
          <p:nvPr/>
        </p:nvSpPr>
        <p:spPr>
          <a:xfrm>
            <a:off x="10744200" y="3422811"/>
            <a:ext cx="59340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88.2%</a:t>
            </a:r>
            <a:endParaRPr lang="en-US" sz="1300" dirty="0"/>
          </a:p>
        </p:txBody>
      </p:sp>
      <p:sp>
        <p:nvSpPr>
          <p:cNvPr id="19" name="Text 16"/>
          <p:cNvSpPr/>
          <p:nvPr/>
        </p:nvSpPr>
        <p:spPr>
          <a:xfrm>
            <a:off x="6731000" y="3743486"/>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Employment</a:t>
            </a:r>
            <a:endParaRPr lang="en-US" sz="1300" dirty="0"/>
          </a:p>
        </p:txBody>
      </p:sp>
      <p:sp>
        <p:nvSpPr>
          <p:cNvPr id="20" name="Shape 17"/>
          <p:cNvSpPr/>
          <p:nvPr/>
        </p:nvSpPr>
        <p:spPr>
          <a:xfrm>
            <a:off x="8737600" y="3757457"/>
            <a:ext cx="1860550" cy="203200"/>
          </a:xfrm>
          <a:prstGeom prst="roundRect">
            <a:avLst>
              <a:gd name="adj" fmla="val 18750"/>
            </a:avLst>
          </a:prstGeom>
          <a:solidFill>
            <a:srgbClr val="F7A06B"/>
          </a:solidFill>
          <a:ln/>
        </p:spPr>
      </p:sp>
      <p:sp>
        <p:nvSpPr>
          <p:cNvPr id="21" name="Text 18"/>
          <p:cNvSpPr/>
          <p:nvPr/>
        </p:nvSpPr>
        <p:spPr>
          <a:xfrm>
            <a:off x="10699750" y="3743486"/>
            <a:ext cx="59093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86.3%</a:t>
            </a:r>
            <a:endParaRPr lang="en-US" sz="1300" dirty="0"/>
          </a:p>
        </p:txBody>
      </p:sp>
      <p:sp>
        <p:nvSpPr>
          <p:cNvPr id="22" name="Text 19"/>
          <p:cNvSpPr/>
          <p:nvPr/>
        </p:nvSpPr>
        <p:spPr>
          <a:xfrm>
            <a:off x="6731000" y="4167349"/>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Lease / real estate</a:t>
            </a:r>
            <a:endParaRPr lang="en-US" sz="1300" dirty="0"/>
          </a:p>
        </p:txBody>
      </p:sp>
      <p:sp>
        <p:nvSpPr>
          <p:cNvPr id="23" name="Shape 20"/>
          <p:cNvSpPr/>
          <p:nvPr/>
        </p:nvSpPr>
        <p:spPr>
          <a:xfrm>
            <a:off x="8737600" y="4181320"/>
            <a:ext cx="1612900" cy="203200"/>
          </a:xfrm>
          <a:prstGeom prst="roundRect">
            <a:avLst>
              <a:gd name="adj" fmla="val 18750"/>
            </a:avLst>
          </a:prstGeom>
          <a:solidFill>
            <a:srgbClr val="B8460F"/>
          </a:solidFill>
          <a:ln/>
        </p:spPr>
      </p:sp>
      <p:sp>
        <p:nvSpPr>
          <p:cNvPr id="24" name="Text 21"/>
          <p:cNvSpPr/>
          <p:nvPr/>
        </p:nvSpPr>
        <p:spPr>
          <a:xfrm>
            <a:off x="10452100" y="4051777"/>
            <a:ext cx="9779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60F"/>
                </a:solidFill>
                <a:latin typeface="DM Sans" pitchFamily="34" charset="0"/>
                <a:ea typeface="DM Sans" pitchFamily="34" charset="-122"/>
                <a:cs typeface="DM Sans" pitchFamily="34" charset="-120"/>
              </a:rPr>
              <a:t>74.6% · RISK</a:t>
            </a:r>
            <a:endParaRPr lang="en-US" sz="1300" dirty="0"/>
          </a:p>
        </p:txBody>
      </p:sp>
      <p:sp>
        <p:nvSpPr>
          <p:cNvPr id="25" name="Text 22"/>
          <p:cNvSpPr/>
          <p:nvPr/>
        </p:nvSpPr>
        <p:spPr>
          <a:xfrm>
            <a:off x="6731000" y="4603595"/>
            <a:ext cx="4787646" cy="406400"/>
          </a:xfrm>
          <a:prstGeom prst="rect">
            <a:avLst/>
          </a:prstGeom>
          <a:noFill/>
          <a:ln/>
        </p:spPr>
        <p:txBody>
          <a:bodyPr wrap="square" lIns="0" tIns="0" rIns="0" bIns="0" rtlCol="0" anchor="t">
            <a:normAutofit/>
          </a:bodyPr>
          <a:lstStyle/>
          <a:p>
            <a:pPr algn="l" indent="0" marL="0">
              <a:lnSpc>
                <a:spcPts val="1512"/>
              </a:lnSpc>
              <a:buNone/>
            </a:pPr>
            <a:r>
              <a:rPr lang="en-US" sz="1080" dirty="0">
                <a:solidFill>
                  <a:srgbClr val="5E4D41"/>
                </a:solidFill>
                <a:latin typeface="DM Sans" pitchFamily="34" charset="0"/>
                <a:ea typeface="DM Sans" pitchFamily="34" charset="-122"/>
                <a:cs typeface="DM Sans" pitchFamily="34" charset="-120"/>
              </a:rPr>
              <a:t>Leases: 86% confidence for 74.6% accuracy (n = 227). Families inferred from keywords.</a:t>
            </a:r>
            <a:endParaRPr lang="en-US" sz="1080" dirty="0"/>
          </a:p>
        </p:txBody>
      </p:sp>
      <p:sp>
        <p:nvSpPr>
          <p:cNvPr id="26" name="Text 23"/>
          <p:cNvSpPr/>
          <p:nvPr/>
        </p:nvSpPr>
        <p:spPr>
          <a:xfrm>
            <a:off x="812800" y="5187795"/>
            <a:ext cx="10566400" cy="654209"/>
          </a:xfrm>
          <a:prstGeom prst="roundRect">
            <a:avLst>
              <a:gd name="adj" fmla="val 15530"/>
            </a:avLst>
          </a:prstGeom>
          <a:solidFill>
            <a:srgbClr val="FFE3CF"/>
          </a:solidFill>
          <a:ln/>
        </p:spPr>
        <p:txBody>
          <a:bodyPr wrap="square" lIns="148042" tIns="84542" rIns="0" bIns="59142" rtlCol="0" anchor="t">
            <a:normAutofit/>
          </a:bodyPr>
          <a:lstStyle/>
          <a:p>
            <a:pPr algn="l" indent="0" marL="0">
              <a:lnSpc>
                <a:spcPts val="1684"/>
              </a:lnSpc>
              <a:buNone/>
            </a:pPr>
            <a:r>
              <a:rPr lang="en-US" sz="1203" b="1" dirty="0">
                <a:solidFill>
                  <a:srgbClr val="1F1611"/>
                </a:solidFill>
                <a:latin typeface="DM Sans" pitchFamily="34" charset="0"/>
                <a:ea typeface="DM Sans" pitchFamily="34" charset="-122"/>
                <a:cs typeface="DM Sans" pitchFamily="34" charset="-120"/>
              </a:rPr>
              <a:t>Names:</a:t>
            </a:r>
            <a:r>
              <a:rPr lang="en-US" sz="1203" dirty="0">
                <a:solidFill>
                  <a:srgbClr val="1F1611"/>
                </a:solidFill>
                <a:latin typeface="DM Sans" pitchFamily="34" charset="0"/>
                <a:ea typeface="DM Sans" pitchFamily="34" charset="-122"/>
                <a:cs typeface="DM Sans" pitchFamily="34" charset="-120"/>
              </a:rPr>
              <a:t> on the same 400 clauses, the five names give the same result (chi-square p = 0.995). </a:t>
            </a:r>
            <a:r>
              <a:rPr lang="en-US" sz="1203" b="1" dirty="0">
                <a:solidFill>
                  <a:srgbClr val="1F1611"/>
                </a:solidFill>
                <a:latin typeface="DM Sans" pitchFamily="34" charset="0"/>
                <a:ea typeface="DM Sans" pitchFamily="34" charset="-122"/>
                <a:cs typeface="DM Sans" pitchFamily="34" charset="-120"/>
              </a:rPr>
              <a:t>Leases</a:t>
            </a:r>
            <a:r>
              <a:rPr lang="en-US" sz="1203" dirty="0">
                <a:solidFill>
                  <a:srgbClr val="1F1611"/>
                </a:solidFill>
                <a:latin typeface="DM Sans" pitchFamily="34" charset="0"/>
                <a:ea typeface="DM Sans" pitchFamily="34" charset="-122"/>
                <a:cs typeface="DM Sans" pitchFamily="34" charset="-120"/>
              </a:rPr>
              <a:t> are weak for TF-IDF too (74.9%): a gap in the data, not the model.</a:t>
            </a:r>
            <a:endParaRPr lang="en-US" sz="1203" dirty="0"/>
          </a:p>
        </p:txBody>
      </p:sp>
      <p:sp>
        <p:nvSpPr>
          <p:cNvPr id="27" name="Text 24"/>
          <p:cNvSpPr/>
          <p:nvPr/>
        </p:nvSpPr>
        <p:spPr>
          <a:xfrm>
            <a:off x="812800" y="6238242"/>
            <a:ext cx="8670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564"/>
                </a:solidFill>
                <a:latin typeface="DM Sans" pitchFamily="34" charset="0"/>
                <a:ea typeface="DM Sans" pitchFamily="34" charset="-122"/>
                <a:cs typeface="DM Sans" pitchFamily="34" charset="-120"/>
              </a:rPr>
              <a:t>Legal-BERT seed 42 (swaps), seeds 42/1/2 mean (families) · results/audit/counterfactual.csv · slices.csv</a:t>
            </a:r>
            <a:endParaRPr lang="en-US" sz="1200" dirty="0"/>
          </a:p>
        </p:txBody>
      </p:sp>
      <p:sp>
        <p:nvSpPr>
          <p:cNvPr id="28" name="Text 2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564"/>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6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8460F"/>
                </a:solidFill>
                <a:latin typeface="JetBrains Mono" pitchFamily="49" charset="0"/>
                <a:ea typeface="JetBrains Mono" pitchFamily="49" charset="-122"/>
                <a:cs typeface="JetBrains Mono" pitchFamily="49" charset="-120"/>
              </a:rPr>
              <a:t>MODEL CARD · DOCS/MODEL_CARD.MD</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1611"/>
                </a:solidFill>
                <a:latin typeface="Syne" pitchFamily="18" charset="0"/>
                <a:ea typeface="Syne" pitchFamily="18" charset="-122"/>
                <a:cs typeface="Syne" pitchFamily="18" charset="-120"/>
              </a:rPr>
              <a:t>What it must not be used for</a:t>
            </a:r>
            <a:endParaRPr lang="en-US" sz="3200" dirty="0"/>
          </a:p>
        </p:txBody>
      </p:sp>
      <p:pic>
        <p:nvPicPr>
          <p:cNvPr id="4" name="Image 0" descr="rect">    </p:cNvPr>
          <p:cNvPicPr>
            <a:picLocks noChangeAspect="1"/>
          </p:cNvPicPr>
          <p:nvPr/>
        </p:nvPicPr>
        <p:blipFill>
          <a:blip r:embed="rId1"/>
          <a:srcRect l="0" r="0" t="-505" b="-505"/>
          <a:stretch/>
        </p:blipFill>
        <p:spPr>
          <a:xfrm>
            <a:off x="812800" y="2241550"/>
            <a:ext cx="125730" cy="127000"/>
          </a:xfrm>
          <a:prstGeom prst="rect">
            <a:avLst/>
          </a:prstGeom>
        </p:spPr>
      </p:pic>
      <p:sp>
        <p:nvSpPr>
          <p:cNvPr id="5" name="Text 2"/>
          <p:cNvSpPr/>
          <p:nvPr/>
        </p:nvSpPr>
        <p:spPr>
          <a:xfrm>
            <a:off x="1065530" y="2241550"/>
            <a:ext cx="471046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611"/>
                </a:solidFill>
                <a:latin typeface="DM Sans" pitchFamily="34" charset="0"/>
                <a:ea typeface="DM Sans" pitchFamily="34" charset="-122"/>
                <a:cs typeface="DM Sans" pitchFamily="34" charset="-120"/>
              </a:rPr>
              <a:t>Legal advice, or judging whether a clause is valid or risky</a:t>
            </a:r>
            <a:endParaRPr lang="en-US" sz="1400" dirty="0"/>
          </a:p>
        </p:txBody>
      </p:sp>
      <p:pic>
        <p:nvPicPr>
          <p:cNvPr id="6" name="Image 1" descr="rect">    </p:cNvPr>
          <p:cNvPicPr>
            <a:picLocks noChangeAspect="1"/>
          </p:cNvPicPr>
          <p:nvPr/>
        </p:nvPicPr>
        <p:blipFill>
          <a:blip r:embed="rId2"/>
          <a:srcRect l="0" r="0" t="-370" b="-370"/>
          <a:stretch/>
        </p:blipFill>
        <p:spPr>
          <a:xfrm>
            <a:off x="812800" y="2848614"/>
            <a:ext cx="107156" cy="127000"/>
          </a:xfrm>
          <a:prstGeom prst="rect">
            <a:avLst/>
          </a:prstGeom>
        </p:spPr>
      </p:pic>
      <p:sp>
        <p:nvSpPr>
          <p:cNvPr id="7" name="Text 3"/>
          <p:cNvSpPr/>
          <p:nvPr/>
        </p:nvSpPr>
        <p:spPr>
          <a:xfrm>
            <a:off x="1046956" y="2848614"/>
            <a:ext cx="4729599"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611"/>
                </a:solidFill>
                <a:latin typeface="DM Sans" pitchFamily="34" charset="0"/>
                <a:ea typeface="DM Sans" pitchFamily="34" charset="-122"/>
                <a:cs typeface="DM Sans" pitchFamily="34" charset="-120"/>
              </a:rPr>
              <a:t>Contracts not in English, or EU contracts, without a new evaluation</a:t>
            </a:r>
            <a:endParaRPr lang="en-US" sz="1400" dirty="0"/>
          </a:p>
        </p:txBody>
      </p:sp>
      <p:pic>
        <p:nvPicPr>
          <p:cNvPr id="8" name="Image 2" descr="rect">    </p:cNvPr>
          <p:cNvPicPr>
            <a:picLocks noChangeAspect="1"/>
          </p:cNvPicPr>
          <p:nvPr/>
        </p:nvPicPr>
        <p:blipFill>
          <a:blip r:embed="rId3"/>
          <a:srcRect l="0" r="0" t="0" b="0"/>
          <a:stretch/>
        </p:blipFill>
        <p:spPr>
          <a:xfrm>
            <a:off x="812800" y="3455671"/>
            <a:ext cx="127000" cy="127000"/>
          </a:xfrm>
          <a:prstGeom prst="rect">
            <a:avLst/>
          </a:prstGeom>
        </p:spPr>
      </p:pic>
      <p:sp>
        <p:nvSpPr>
          <p:cNvPr id="9" name="Text 4"/>
          <p:cNvSpPr/>
          <p:nvPr/>
        </p:nvSpPr>
        <p:spPr>
          <a:xfrm>
            <a:off x="1066800" y="3455671"/>
            <a:ext cx="439521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611"/>
                </a:solidFill>
                <a:latin typeface="DM Sans" pitchFamily="34" charset="0"/>
                <a:ea typeface="DM Sans" pitchFamily="34" charset="-122"/>
                <a:cs typeface="DM Sans" pitchFamily="34" charset="-120"/>
              </a:rPr>
              <a:t>Consumer, employment or court documents</a:t>
            </a:r>
            <a:endParaRPr lang="en-US" sz="1400" dirty="0"/>
          </a:p>
        </p:txBody>
      </p:sp>
      <p:pic>
        <p:nvPicPr>
          <p:cNvPr id="10" name="Image 3" descr="rect">    </p:cNvPr>
          <p:cNvPicPr>
            <a:picLocks noChangeAspect="1"/>
          </p:cNvPicPr>
          <p:nvPr/>
        </p:nvPicPr>
        <p:blipFill>
          <a:blip r:embed="rId4"/>
          <a:srcRect l="0" r="0" t="0" b="0"/>
          <a:stretch/>
        </p:blipFill>
        <p:spPr>
          <a:xfrm>
            <a:off x="812800" y="3822700"/>
            <a:ext cx="127000" cy="127000"/>
          </a:xfrm>
          <a:prstGeom prst="rect">
            <a:avLst/>
          </a:prstGeom>
        </p:spPr>
      </p:pic>
      <p:sp>
        <p:nvSpPr>
          <p:cNvPr id="11" name="Text 5"/>
          <p:cNvSpPr/>
          <p:nvPr/>
        </p:nvSpPr>
        <p:spPr>
          <a:xfrm>
            <a:off x="1066800" y="3822700"/>
            <a:ext cx="4878133"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611"/>
                </a:solidFill>
                <a:latin typeface="DM Sans" pitchFamily="34" charset="0"/>
                <a:ea typeface="DM Sans" pitchFamily="34" charset="-122"/>
                <a:cs typeface="DM Sans" pitchFamily="34" charset="-120"/>
              </a:rPr>
              <a:t>Fully automatic tagging with no lawyer in the loop</a:t>
            </a:r>
            <a:endParaRPr lang="en-US" sz="1400" dirty="0"/>
          </a:p>
        </p:txBody>
      </p:sp>
      <p:pic>
        <p:nvPicPr>
          <p:cNvPr id="12" name="Image 4" descr="rect">    </p:cNvPr>
          <p:cNvPicPr>
            <a:picLocks noChangeAspect="1"/>
          </p:cNvPicPr>
          <p:nvPr/>
        </p:nvPicPr>
        <p:blipFill>
          <a:blip r:embed="rId5"/>
          <a:srcRect l="0" r="0" t="0" b="0"/>
          <a:stretch/>
        </p:blipFill>
        <p:spPr>
          <a:xfrm>
            <a:off x="812800" y="4189729"/>
            <a:ext cx="127000" cy="127000"/>
          </a:xfrm>
          <a:prstGeom prst="rect">
            <a:avLst/>
          </a:prstGeom>
        </p:spPr>
      </p:pic>
      <p:sp>
        <p:nvSpPr>
          <p:cNvPr id="13" name="Text 6"/>
          <p:cNvSpPr/>
          <p:nvPr/>
        </p:nvSpPr>
        <p:spPr>
          <a:xfrm>
            <a:off x="1066800" y="4189729"/>
            <a:ext cx="357082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611"/>
                </a:solidFill>
                <a:latin typeface="DM Sans" pitchFamily="34" charset="0"/>
                <a:ea typeface="DM Sans" pitchFamily="34" charset="-122"/>
                <a:cs typeface="DM Sans" pitchFamily="34" charset="-120"/>
              </a:rPr>
              <a:t>Any decision about a natural person</a:t>
            </a:r>
            <a:endParaRPr lang="en-US" sz="1400" dirty="0"/>
          </a:p>
        </p:txBody>
      </p:sp>
      <p:sp>
        <p:nvSpPr>
          <p:cNvPr id="14" name="Text 7"/>
          <p:cNvSpPr/>
          <p:nvPr/>
        </p:nvSpPr>
        <p:spPr>
          <a:xfrm>
            <a:off x="6146800" y="2241550"/>
            <a:ext cx="538937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1611"/>
                </a:solidFill>
                <a:latin typeface="DM Sans" pitchFamily="34" charset="0"/>
                <a:ea typeface="DM Sans" pitchFamily="34" charset="-122"/>
                <a:cs typeface="DM Sans" pitchFamily="34" charset="-120"/>
              </a:rPr>
              <a:t>Its 50 most confident errors, read one by one</a:t>
            </a:r>
            <a:endParaRPr lang="en-US" sz="1400" dirty="0"/>
          </a:p>
        </p:txBody>
      </p:sp>
      <p:sp>
        <p:nvSpPr>
          <p:cNvPr id="15" name="Text 8"/>
          <p:cNvSpPr/>
          <p:nvPr/>
        </p:nvSpPr>
        <p:spPr>
          <a:xfrm>
            <a:off x="6146800" y="2604771"/>
            <a:ext cx="18313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Label noise</a:t>
            </a:r>
            <a:endParaRPr lang="en-US" sz="1300" dirty="0"/>
          </a:p>
        </p:txBody>
      </p:sp>
      <p:sp>
        <p:nvSpPr>
          <p:cNvPr id="16" name="Shape 9"/>
          <p:cNvSpPr/>
          <p:nvPr/>
        </p:nvSpPr>
        <p:spPr>
          <a:xfrm>
            <a:off x="8026400" y="2606042"/>
            <a:ext cx="2857500" cy="228600"/>
          </a:xfrm>
          <a:prstGeom prst="roundRect">
            <a:avLst>
              <a:gd name="adj" fmla="val 16667"/>
            </a:avLst>
          </a:prstGeom>
          <a:solidFill>
            <a:srgbClr val="F26A1B"/>
          </a:solidFill>
          <a:ln/>
        </p:spPr>
      </p:sp>
      <p:sp>
        <p:nvSpPr>
          <p:cNvPr id="17" name="Text 10"/>
          <p:cNvSpPr/>
          <p:nvPr/>
        </p:nvSpPr>
        <p:spPr>
          <a:xfrm>
            <a:off x="10985500" y="2604771"/>
            <a:ext cx="24860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25</a:t>
            </a:r>
            <a:endParaRPr lang="en-US" sz="1300" dirty="0"/>
          </a:p>
        </p:txBody>
      </p:sp>
      <p:sp>
        <p:nvSpPr>
          <p:cNvPr id="18" name="Text 11"/>
          <p:cNvSpPr/>
          <p:nvPr/>
        </p:nvSpPr>
        <p:spPr>
          <a:xfrm>
            <a:off x="6146800" y="2950214"/>
            <a:ext cx="18313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Overlapping labels</a:t>
            </a:r>
            <a:endParaRPr lang="en-US" sz="1300" dirty="0"/>
          </a:p>
        </p:txBody>
      </p:sp>
      <p:sp>
        <p:nvSpPr>
          <p:cNvPr id="19" name="Shape 12"/>
          <p:cNvSpPr/>
          <p:nvPr/>
        </p:nvSpPr>
        <p:spPr>
          <a:xfrm>
            <a:off x="8026400" y="2951479"/>
            <a:ext cx="1371600" cy="228600"/>
          </a:xfrm>
          <a:prstGeom prst="roundRect">
            <a:avLst>
              <a:gd name="adj" fmla="val 16667"/>
            </a:avLst>
          </a:prstGeom>
          <a:solidFill>
            <a:srgbClr val="F7A06B"/>
          </a:solidFill>
          <a:ln/>
        </p:spPr>
      </p:sp>
      <p:sp>
        <p:nvSpPr>
          <p:cNvPr id="20" name="Text 13"/>
          <p:cNvSpPr/>
          <p:nvPr/>
        </p:nvSpPr>
        <p:spPr>
          <a:xfrm>
            <a:off x="9499600" y="2950214"/>
            <a:ext cx="20621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12</a:t>
            </a:r>
            <a:endParaRPr lang="en-US" sz="1300" dirty="0"/>
          </a:p>
        </p:txBody>
      </p:sp>
      <p:sp>
        <p:nvSpPr>
          <p:cNvPr id="21" name="Text 14"/>
          <p:cNvSpPr/>
          <p:nvPr/>
        </p:nvSpPr>
        <p:spPr>
          <a:xfrm>
            <a:off x="6146800" y="3295650"/>
            <a:ext cx="18313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Multi-topic clause</a:t>
            </a:r>
            <a:endParaRPr lang="en-US" sz="1300" dirty="0"/>
          </a:p>
        </p:txBody>
      </p:sp>
      <p:sp>
        <p:nvSpPr>
          <p:cNvPr id="22" name="Shape 15"/>
          <p:cNvSpPr/>
          <p:nvPr/>
        </p:nvSpPr>
        <p:spPr>
          <a:xfrm>
            <a:off x="8026400" y="3296921"/>
            <a:ext cx="1257300" cy="228600"/>
          </a:xfrm>
          <a:prstGeom prst="roundRect">
            <a:avLst>
              <a:gd name="adj" fmla="val 16667"/>
            </a:avLst>
          </a:prstGeom>
          <a:solidFill>
            <a:srgbClr val="F7A06B"/>
          </a:solidFill>
          <a:ln/>
        </p:spPr>
      </p:sp>
      <p:sp>
        <p:nvSpPr>
          <p:cNvPr id="23" name="Text 16"/>
          <p:cNvSpPr/>
          <p:nvPr/>
        </p:nvSpPr>
        <p:spPr>
          <a:xfrm>
            <a:off x="9385300" y="3295650"/>
            <a:ext cx="1710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11</a:t>
            </a:r>
            <a:endParaRPr lang="en-US" sz="1300" dirty="0"/>
          </a:p>
        </p:txBody>
      </p:sp>
      <p:sp>
        <p:nvSpPr>
          <p:cNvPr id="24" name="Text 17"/>
          <p:cNvSpPr/>
          <p:nvPr/>
        </p:nvSpPr>
        <p:spPr>
          <a:xfrm>
            <a:off x="6146800" y="3641092"/>
            <a:ext cx="18313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1611"/>
                </a:solidFill>
                <a:latin typeface="DM Sans" pitchFamily="34" charset="0"/>
                <a:ea typeface="DM Sans" pitchFamily="34" charset="-122"/>
                <a:cs typeface="DM Sans" pitchFamily="34" charset="-120"/>
              </a:rPr>
              <a:t>Model error</a:t>
            </a:r>
            <a:endParaRPr lang="en-US" sz="1300" dirty="0"/>
          </a:p>
        </p:txBody>
      </p:sp>
      <p:sp>
        <p:nvSpPr>
          <p:cNvPr id="25" name="Shape 18"/>
          <p:cNvSpPr/>
          <p:nvPr/>
        </p:nvSpPr>
        <p:spPr>
          <a:xfrm>
            <a:off x="8026400" y="3642364"/>
            <a:ext cx="228600" cy="228600"/>
          </a:xfrm>
          <a:prstGeom prst="roundRect">
            <a:avLst>
              <a:gd name="adj" fmla="val 16667"/>
            </a:avLst>
          </a:prstGeom>
          <a:solidFill>
            <a:srgbClr val="1F1611"/>
          </a:solidFill>
          <a:ln/>
        </p:spPr>
      </p:sp>
      <p:sp>
        <p:nvSpPr>
          <p:cNvPr id="26" name="Text 19"/>
          <p:cNvSpPr/>
          <p:nvPr/>
        </p:nvSpPr>
        <p:spPr>
          <a:xfrm>
            <a:off x="8356600" y="3641092"/>
            <a:ext cx="14612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1611"/>
                </a:solidFill>
                <a:latin typeface="DM Sans" pitchFamily="34" charset="0"/>
                <a:ea typeface="DM Sans" pitchFamily="34" charset="-122"/>
                <a:cs typeface="DM Sans" pitchFamily="34" charset="-120"/>
              </a:rPr>
              <a:t>2</a:t>
            </a:r>
            <a:endParaRPr lang="en-US" sz="1300" dirty="0"/>
          </a:p>
        </p:txBody>
      </p:sp>
      <p:sp>
        <p:nvSpPr>
          <p:cNvPr id="27" name="Text 20"/>
          <p:cNvSpPr/>
          <p:nvPr/>
        </p:nvSpPr>
        <p:spPr>
          <a:xfrm>
            <a:off x="6146800" y="3986529"/>
            <a:ext cx="53893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4D41"/>
                </a:solidFill>
                <a:latin typeface="DM Sans" pitchFamily="34" charset="0"/>
                <a:ea typeface="DM Sans" pitchFamily="34" charset="-122"/>
                <a:cs typeface="DM Sans" pitchFamily="34" charset="-120"/>
              </a:rPr>
              <a:t>48 of 50 come from the data, not the model. One annotator, not a lawyer.</a:t>
            </a:r>
            <a:endParaRPr lang="en-US" sz="1300" dirty="0"/>
          </a:p>
        </p:txBody>
      </p:sp>
      <p:sp>
        <p:nvSpPr>
          <p:cNvPr id="28" name="Text 21"/>
          <p:cNvSpPr/>
          <p:nvPr/>
        </p:nvSpPr>
        <p:spPr>
          <a:xfrm>
            <a:off x="812800" y="5090164"/>
            <a:ext cx="10566400" cy="751840"/>
          </a:xfrm>
          <a:prstGeom prst="roundRect">
            <a:avLst>
              <a:gd name="adj" fmla="val 13514"/>
            </a:avLst>
          </a:prstGeom>
          <a:solidFill>
            <a:srgbClr val="FFE3CF"/>
          </a:solidFill>
          <a:ln/>
        </p:spPr>
        <p:txBody>
          <a:bodyPr wrap="square" lIns="148042" tIns="97242" rIns="0" bIns="71842" rtlCol="0" anchor="t">
            <a:normAutofit/>
          </a:bodyPr>
          <a:lstStyle/>
          <a:p>
            <a:pPr algn="l" indent="0" marL="0">
              <a:lnSpc>
                <a:spcPts val="1960"/>
              </a:lnSpc>
              <a:buNone/>
            </a:pPr>
            <a:r>
              <a:rPr lang="en-US" sz="1400" b="1" dirty="0">
                <a:solidFill>
                  <a:srgbClr val="1F1611"/>
                </a:solidFill>
                <a:latin typeface="DM Sans" pitchFamily="34" charset="0"/>
                <a:ea typeface="DM Sans" pitchFamily="34" charset="-122"/>
                <a:cs typeface="DM Sans" pitchFamily="34" charset="-120"/>
              </a:rPr>
              <a:t>GDPR:</a:t>
            </a:r>
            <a:r>
              <a:rPr lang="en-US" sz="1400" dirty="0">
                <a:solidFill>
                  <a:srgbClr val="1F1611"/>
                </a:solidFill>
                <a:latin typeface="DM Sans" pitchFamily="34" charset="0"/>
                <a:ea typeface="DM Sans" pitchFamily="34" charset="-122"/>
                <a:cs typeface="DM Sans" pitchFamily="34" charset="-120"/>
              </a:rPr>
              <a:t> client contracts hold personal data. Run on the client’s or EU infrastructure; never retrain on client data without written agreement.</a:t>
            </a:r>
            <a:endParaRPr lang="en-US" sz="1400" dirty="0"/>
          </a:p>
        </p:txBody>
      </p:sp>
      <p:sp>
        <p:nvSpPr>
          <p:cNvPr id="29" name="Text 22"/>
          <p:cNvSpPr/>
          <p:nvPr/>
        </p:nvSpPr>
        <p:spPr>
          <a:xfrm>
            <a:off x="812800" y="6238242"/>
            <a:ext cx="42871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564"/>
                </a:solidFill>
                <a:latin typeface="DM Sans" pitchFamily="34" charset="0"/>
                <a:ea typeface="DM Sans" pitchFamily="34" charset="-122"/>
                <a:cs typeface="DM Sans" pitchFamily="34" charset="-120"/>
              </a:rPr>
              <a:t>results/error_taxonomy.csv · docs/model_card.md</a:t>
            </a:r>
            <a:endParaRPr lang="en-US" sz="1200" dirty="0"/>
          </a:p>
        </p:txBody>
      </p:sp>
      <p:sp>
        <p:nvSpPr>
          <p:cNvPr id="30" name="Text 2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7564"/>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1611"/>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9093200" y="609600"/>
            <a:ext cx="2286000" cy="2286000"/>
          </a:xfrm>
          <a:prstGeom prst="rect">
            <a:avLst/>
          </a:prstGeom>
        </p:spPr>
      </p:pic>
      <p:sp>
        <p:nvSpPr>
          <p:cNvPr id="3" name="Text 0"/>
          <p:cNvSpPr/>
          <p:nvPr/>
        </p:nvSpPr>
        <p:spPr>
          <a:xfrm>
            <a:off x="9058910" y="927100"/>
            <a:ext cx="2354580" cy="1549400"/>
          </a:xfrm>
          <a:prstGeom prst="rect">
            <a:avLst/>
          </a:prstGeom>
          <a:noFill/>
          <a:ln/>
        </p:spPr>
        <p:txBody>
          <a:bodyPr wrap="square" lIns="0" tIns="0" rIns="0" bIns="0" rtlCol="0" anchor="t">
            <a:normAutofit/>
          </a:bodyPr>
          <a:lstStyle/>
          <a:p>
            <a:pPr algn="ctr" indent="0" marL="0">
              <a:lnSpc>
                <a:spcPts val="12000"/>
              </a:lnSpc>
              <a:buNone/>
            </a:pPr>
            <a:r>
              <a:rPr lang="en-US" sz="12000" b="1" dirty="0">
                <a:solidFill>
                  <a:srgbClr val="1F1611"/>
                </a:solidFill>
                <a:latin typeface="Syne" pitchFamily="18" charset="0"/>
                <a:ea typeface="Syne" pitchFamily="18" charset="-122"/>
                <a:cs typeface="Syne" pitchFamily="18" charset="-120"/>
              </a:rPr>
              <a:t>§</a:t>
            </a:r>
            <a:endParaRPr lang="en-US" sz="12000" dirty="0"/>
          </a:p>
        </p:txBody>
      </p:sp>
      <p:sp>
        <p:nvSpPr>
          <p:cNvPr id="4" name="Text 1"/>
          <p:cNvSpPr/>
          <p:nvPr/>
        </p:nvSpPr>
        <p:spPr>
          <a:xfrm>
            <a:off x="812800" y="812800"/>
            <a:ext cx="8110220"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6A1B"/>
                </a:solidFill>
                <a:latin typeface="JetBrains Mono" pitchFamily="49" charset="0"/>
                <a:ea typeface="JetBrains Mono" pitchFamily="49" charset="-122"/>
                <a:cs typeface="JetBrains Mono" pitchFamily="49" charset="-120"/>
              </a:rPr>
              <a:t>NEXT STEPS</a:t>
            </a:r>
            <a:endParaRPr lang="en-US" sz="1200" dirty="0"/>
          </a:p>
        </p:txBody>
      </p:sp>
      <p:sp>
        <p:nvSpPr>
          <p:cNvPr id="5" name="Text 2"/>
          <p:cNvSpPr/>
          <p:nvPr>
            <p:ph type="title"/>
          </p:nvPr>
        </p:nvSpPr>
        <p:spPr>
          <a:xfrm>
            <a:off x="812800" y="1153164"/>
            <a:ext cx="8110220"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BF6F0"/>
                </a:solidFill>
                <a:latin typeface="Syne" pitchFamily="18" charset="0"/>
                <a:ea typeface="Syne" pitchFamily="18" charset="-122"/>
                <a:cs typeface="Syne" pitchFamily="18" charset="-120"/>
              </a:rPr>
              <a:t>From a US benchmark to a European product</a:t>
            </a:r>
            <a:endParaRPr lang="en-US" sz="3200" dirty="0"/>
          </a:p>
        </p:txBody>
      </p:sp>
      <p:sp>
        <p:nvSpPr>
          <p:cNvPr id="6" name="Shape 3"/>
          <p:cNvSpPr/>
          <p:nvPr/>
        </p:nvSpPr>
        <p:spPr>
          <a:xfrm>
            <a:off x="812800" y="2929892"/>
            <a:ext cx="2527300" cy="0"/>
          </a:xfrm>
          <a:prstGeom prst="line">
            <a:avLst/>
          </a:prstGeom>
          <a:noFill/>
          <a:ln w="38100">
            <a:solidFill>
              <a:srgbClr val="F26A1B"/>
            </a:solidFill>
            <a:prstDash val="solid"/>
          </a:ln>
        </p:spPr>
      </p:sp>
      <p:sp>
        <p:nvSpPr>
          <p:cNvPr id="7" name="Text 4"/>
          <p:cNvSpPr/>
          <p:nvPr/>
        </p:nvSpPr>
        <p:spPr>
          <a:xfrm>
            <a:off x="812800" y="3098800"/>
            <a:ext cx="2603119"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F0"/>
                </a:solidFill>
                <a:latin typeface="Syne" pitchFamily="18" charset="0"/>
                <a:ea typeface="Syne" pitchFamily="18" charset="-122"/>
                <a:cs typeface="Syne" pitchFamily="18" charset="-120"/>
              </a:rPr>
              <a:t>EU and French contracts</a:t>
            </a:r>
            <a:endParaRPr lang="en-US" sz="1600" dirty="0"/>
          </a:p>
        </p:txBody>
      </p:sp>
      <p:sp>
        <p:nvSpPr>
          <p:cNvPr id="8" name="Text 5"/>
          <p:cNvSpPr/>
          <p:nvPr/>
        </p:nvSpPr>
        <p:spPr>
          <a:xfrm>
            <a:off x="812800" y="3675379"/>
            <a:ext cx="260311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9DCCF"/>
                </a:solidFill>
                <a:latin typeface="DM Sans" pitchFamily="34" charset="0"/>
                <a:ea typeface="DM Sans" pitchFamily="34" charset="-122"/>
                <a:cs typeface="DM Sans" pitchFamily="34" charset="-120"/>
              </a:rPr>
              <a:t>Label a European set; fine-tune a multilingual model, or CamemBERT on French.</a:t>
            </a:r>
            <a:endParaRPr lang="en-US" sz="1300" dirty="0"/>
          </a:p>
        </p:txBody>
      </p:sp>
      <p:sp>
        <p:nvSpPr>
          <p:cNvPr id="9" name="Shape 6"/>
          <p:cNvSpPr/>
          <p:nvPr/>
        </p:nvSpPr>
        <p:spPr>
          <a:xfrm>
            <a:off x="3492500" y="2929892"/>
            <a:ext cx="2527300" cy="0"/>
          </a:xfrm>
          <a:prstGeom prst="line">
            <a:avLst/>
          </a:prstGeom>
          <a:noFill/>
          <a:ln w="38100">
            <a:solidFill>
              <a:srgbClr val="F26A1B"/>
            </a:solidFill>
            <a:prstDash val="solid"/>
          </a:ln>
        </p:spPr>
      </p:sp>
      <p:sp>
        <p:nvSpPr>
          <p:cNvPr id="10" name="Text 7"/>
          <p:cNvSpPr/>
          <p:nvPr/>
        </p:nvSpPr>
        <p:spPr>
          <a:xfrm>
            <a:off x="3492500" y="3098800"/>
            <a:ext cx="26031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F0"/>
                </a:solidFill>
                <a:latin typeface="Syne" pitchFamily="18" charset="0"/>
                <a:ea typeface="Syne" pitchFamily="18" charset="-122"/>
                <a:cs typeface="Syne" pitchFamily="18" charset="-120"/>
              </a:rPr>
              <a:t>Leases and real estate</a:t>
            </a:r>
            <a:endParaRPr lang="en-US" sz="1600" dirty="0"/>
          </a:p>
        </p:txBody>
      </p:sp>
      <p:sp>
        <p:nvSpPr>
          <p:cNvPr id="11" name="Text 8"/>
          <p:cNvSpPr/>
          <p:nvPr/>
        </p:nvSpPr>
        <p:spPr>
          <a:xfrm>
            <a:off x="3492500" y="3431542"/>
            <a:ext cx="260311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9DCCF"/>
                </a:solidFill>
                <a:latin typeface="DM Sans" pitchFamily="34" charset="0"/>
                <a:ea typeface="DM Sans" pitchFamily="34" charset="-122"/>
                <a:cs typeface="DM Sans" pitchFamily="34" charset="-120"/>
              </a:rPr>
              <a:t>Our weakest kind of contract: add lease agreements to training, then audit again.</a:t>
            </a:r>
            <a:endParaRPr lang="en-US" sz="1300" dirty="0"/>
          </a:p>
        </p:txBody>
      </p:sp>
      <p:sp>
        <p:nvSpPr>
          <p:cNvPr id="12" name="Shape 9"/>
          <p:cNvSpPr/>
          <p:nvPr/>
        </p:nvSpPr>
        <p:spPr>
          <a:xfrm>
            <a:off x="6172200" y="2929892"/>
            <a:ext cx="2527300" cy="0"/>
          </a:xfrm>
          <a:prstGeom prst="line">
            <a:avLst/>
          </a:prstGeom>
          <a:noFill/>
          <a:ln w="38100">
            <a:solidFill>
              <a:srgbClr val="F26A1B"/>
            </a:solidFill>
            <a:prstDash val="solid"/>
          </a:ln>
        </p:spPr>
      </p:sp>
      <p:sp>
        <p:nvSpPr>
          <p:cNvPr id="13" name="Text 10"/>
          <p:cNvSpPr/>
          <p:nvPr/>
        </p:nvSpPr>
        <p:spPr>
          <a:xfrm>
            <a:off x="6172200" y="3098800"/>
            <a:ext cx="26031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F0"/>
                </a:solidFill>
                <a:latin typeface="Syne" pitchFamily="18" charset="0"/>
                <a:ea typeface="Syne" pitchFamily="18" charset="-122"/>
                <a:cs typeface="Syne" pitchFamily="18" charset="-120"/>
              </a:rPr>
              <a:t>A cleaner label set</a:t>
            </a:r>
            <a:endParaRPr lang="en-US" sz="1600" dirty="0"/>
          </a:p>
        </p:txBody>
      </p:sp>
      <p:sp>
        <p:nvSpPr>
          <p:cNvPr id="14" name="Text 11"/>
          <p:cNvSpPr/>
          <p:nvPr/>
        </p:nvSpPr>
        <p:spPr>
          <a:xfrm>
            <a:off x="6172200" y="3431542"/>
            <a:ext cx="260311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9DCCF"/>
                </a:solidFill>
                <a:latin typeface="DM Sans" pitchFamily="34" charset="0"/>
                <a:ea typeface="DM Sans" pitchFamily="34" charset="-122"/>
                <a:cs typeface="DM Sans" pitchFamily="34" charset="-120"/>
              </a:rPr>
              <a:t>Merge near-synonym types, re-label noisy ones: 48 of 50 top errors are data.</a:t>
            </a:r>
            <a:endParaRPr lang="en-US" sz="1300" dirty="0"/>
          </a:p>
        </p:txBody>
      </p:sp>
      <p:sp>
        <p:nvSpPr>
          <p:cNvPr id="15" name="Shape 12"/>
          <p:cNvSpPr/>
          <p:nvPr/>
        </p:nvSpPr>
        <p:spPr>
          <a:xfrm>
            <a:off x="8851900" y="2929892"/>
            <a:ext cx="2527300" cy="0"/>
          </a:xfrm>
          <a:prstGeom prst="line">
            <a:avLst/>
          </a:prstGeom>
          <a:noFill/>
          <a:ln w="38100">
            <a:solidFill>
              <a:srgbClr val="F26A1B"/>
            </a:solidFill>
            <a:prstDash val="solid"/>
          </a:ln>
        </p:spPr>
      </p:sp>
      <p:sp>
        <p:nvSpPr>
          <p:cNvPr id="16" name="Text 13"/>
          <p:cNvSpPr/>
          <p:nvPr/>
        </p:nvSpPr>
        <p:spPr>
          <a:xfrm>
            <a:off x="8851900" y="3098800"/>
            <a:ext cx="26031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F0"/>
                </a:solidFill>
                <a:latin typeface="Syne" pitchFamily="18" charset="0"/>
                <a:ea typeface="Syne" pitchFamily="18" charset="-122"/>
                <a:cs typeface="Syne" pitchFamily="18" charset="-120"/>
              </a:rPr>
              <a:t>Learn from lawyers</a:t>
            </a:r>
            <a:endParaRPr lang="en-US" sz="1600" dirty="0"/>
          </a:p>
        </p:txBody>
      </p:sp>
      <p:sp>
        <p:nvSpPr>
          <p:cNvPr id="17" name="Text 14"/>
          <p:cNvSpPr/>
          <p:nvPr/>
        </p:nvSpPr>
        <p:spPr>
          <a:xfrm>
            <a:off x="8851900" y="3431542"/>
            <a:ext cx="260311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9DCCF"/>
                </a:solidFill>
                <a:latin typeface="DM Sans" pitchFamily="34" charset="0"/>
                <a:ea typeface="DM Sans" pitchFamily="34" charset="-122"/>
                <a:cs typeface="DM Sans" pitchFamily="34" charset="-120"/>
              </a:rPr>
              <a:t>Every correction on the 23% sent to a lawyer becomes new training data.</a:t>
            </a:r>
            <a:endParaRPr lang="en-US" sz="1300" dirty="0"/>
          </a:p>
        </p:txBody>
      </p:sp>
      <p:sp>
        <p:nvSpPr>
          <p:cNvPr id="18" name="Text 15"/>
          <p:cNvSpPr/>
          <p:nvPr/>
        </p:nvSpPr>
        <p:spPr>
          <a:xfrm>
            <a:off x="812800" y="5232400"/>
            <a:ext cx="649300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6A1B"/>
                </a:solidFill>
                <a:latin typeface="Syne" pitchFamily="18" charset="0"/>
                <a:ea typeface="Syne" pitchFamily="18" charset="-122"/>
                <a:cs typeface="Syne" pitchFamily="18" charset="-120"/>
              </a:rPr>
              <a:t>Questions?</a:t>
            </a:r>
            <a:endParaRPr lang="en-US" sz="4800" dirty="0"/>
          </a:p>
        </p:txBody>
      </p:sp>
      <p:sp>
        <p:nvSpPr>
          <p:cNvPr id="19" name="Text 16"/>
          <p:cNvSpPr/>
          <p:nvPr/>
        </p:nvSpPr>
        <p:spPr>
          <a:xfrm>
            <a:off x="7611872" y="5384800"/>
            <a:ext cx="3767328"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FA996"/>
                </a:solidFill>
                <a:latin typeface="JetBrains Mono" pitchFamily="49" charset="0"/>
                <a:ea typeface="JetBrains Mono" pitchFamily="49" charset="-122"/>
                <a:cs typeface="JetBrains Mono" pitchFamily="49" charset="-120"/>
              </a:rPr>
              <a:t>github.com/GabyD-web/contract-clause-nlp</a:t>
            </a:r>
            <a:endParaRPr lang="en-US" sz="1200" dirty="0"/>
          </a:p>
          <a:p>
            <a:pPr algn="r" indent="0" marL="0">
              <a:lnSpc>
                <a:spcPts val="1800"/>
              </a:lnSpc>
              <a:buNone/>
            </a:pPr>
            <a:r>
              <a:rPr lang="en-US" sz="1200" dirty="0">
                <a:solidFill>
                  <a:srgbClr val="BFA996"/>
                </a:solidFill>
                <a:latin typeface="JetBrains Mono" pitchFamily="49" charset="0"/>
                <a:ea typeface="JetBrains Mono" pitchFamily="49" charset="-122"/>
                <a:cs typeface="JetBrains Mono" pitchFamily="49" charset="-120"/>
              </a:rPr>
              <a:t>tag v1.0 · scripts/run_all.sh</a:t>
            </a:r>
            <a:endParaRPr lang="en-US" sz="1200" dirty="0"/>
          </a:p>
        </p:txBody>
      </p:sp>
      <p:sp>
        <p:nvSpPr>
          <p:cNvPr id="20" name="Text 17"/>
          <p:cNvSpPr/>
          <p:nvPr/>
        </p:nvSpPr>
        <p:spPr>
          <a:xfrm>
            <a:off x="812800" y="6238242"/>
            <a:ext cx="22084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A996"/>
                </a:solidFill>
                <a:latin typeface="DM Sans" pitchFamily="34" charset="0"/>
                <a:ea typeface="DM Sans" pitchFamily="34" charset="-122"/>
                <a:cs typeface="DM Sans" pitchFamily="34" charset="-120"/>
              </a:rPr>
              <a:t>Gaby · Theodore · Leopold</a:t>
            </a:r>
            <a:endParaRPr lang="en-US" sz="1200" dirty="0"/>
          </a:p>
        </p:txBody>
      </p:sp>
      <p:sp>
        <p:nvSpPr>
          <p:cNvPr id="21" name="Text 1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A996"/>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theme/theme1.xml><?xml version="1.0" encoding="utf-8"?>
<a:theme xmlns:a="http://schemas.openxmlformats.org/drawingml/2006/main" name="Contract Clause NLP Defence">
  <a:themeElements>
    <a:clrScheme name="Contract Clause NLP Defence">
      <a:dk1>
        <a:srgbClr val="1F1611"/>
      </a:dk1>
      <a:lt1>
        <a:srgbClr val="FBF6F0"/>
      </a:lt1>
      <a:dk2>
        <a:srgbClr val="564E49"/>
      </a:dk2>
      <a:lt2>
        <a:srgbClr val="E5E0DA"/>
      </a:lt2>
      <a:accent1>
        <a:srgbClr val="B8460F"/>
      </a:accent1>
      <a:accent2>
        <a:srgbClr val="F26A1B"/>
      </a:accent2>
      <a:accent3>
        <a:srgbClr val="BFA996"/>
      </a:accent3>
      <a:accent4>
        <a:srgbClr val="F7A06B"/>
      </a:accent4>
      <a:accent5>
        <a:srgbClr val="FFE3CF"/>
      </a:accent5>
      <a:accent6>
        <a:srgbClr val="5E4D41"/>
      </a:accent6>
      <a:hlink>
        <a:srgbClr val="0563C1"/>
      </a:hlink>
      <a:folHlink>
        <a:srgbClr val="954F72"/>
      </a:folHlink>
    </a:clrScheme>
    <a:fontScheme name="Contract Clause NLP Defence">
      <a:majorFont>
        <a:latin typeface="Sy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 Clause NLP Defence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Syne
Copyright 2017 The Syne Project Authors (https://gitlab.com/bonjour-monde/fonderie/syne-typeface)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2026-10-22T02:06:14Z</dcterms:created>
  <dcterms:modified xsi:type="dcterms:W3CDTF">2026-10-22T02:06:14Z</dcterms:modified>
</cp:coreProperties>
</file>